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a456e0ab-ef03-f243-bb33-c77568a0efbd}">
          <p14:sldIdLst>
            <p14:sldId id="256"/>
          </p14:sldIdLst>
        </p14:section>
        <p14:section name="Solution" id="{19d398f5-bc18-9ae2-3478-0d6d50ccaa9b}">
          <p14:sldIdLst>
            <p14:sldId id="257"/>
          </p14:sldIdLst>
        </p14:section>
        <p14:section name="DetectifAI" id="{13ed2475-2dd2-86b2-d281-69278c85639a}">
          <p14:sldIdLst>
            <p14:sldId id="258"/>
          </p14:sldIdLst>
        </p14:section>
        <p14:section name="Impact" id="{e5dd1b4d-94a7-2134-907d-1e1569970742}">
          <p14:sldIdLst>
            <p14:sldId id="259"/>
          </p14:sldIdLst>
        </p14:section>
        <p14:section name="Scale" id="{8164aeb9-2a89-2fbb-ada9-d2d5b697ae83}">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AF0"/>
                </a:solidFill>
                <a:latin typeface="+mn-lt"/>
              </a:defRPr>
            </a:pPr>
            <a:r>
              <a:rPr sz="1200" b="0" i="0" u="none" strike="noStrike">
                <a:solidFill>
                  <a:srgbClr val="E8EAF0"/>
                </a:solidFill>
                <a:latin typeface="+mn-lt"/>
              </a:rPr>
              <a:t>API operations per call (illustrative)</a:t>
            </a:r>
          </a:p>
        </c:rich>
      </c:tx>
      <c:layout/>
      <c:overlay val="0"/>
    </c:title>
    <c:autoTitleDeleted val="0"/>
    <c:plotArea>
      <c:layout/>
      <c:barChart>
        <c:barDir val="bar"/>
        <c:grouping val="clustered"/>
        <c:varyColors val="0"/>
        <c:ser>
          <c:idx val="0"/>
          <c:order val="0"/>
          <c:tx>
            <c:strRef>
              <c:f>Sheet1!$B$1</c:f>
              <c:strCache>
                <c:ptCount val="1"/>
                <c:pt idx="0">
                  <c:v>Scan the whole call every 20 s</c:v>
                </c:pt>
              </c:strCache>
            </c:strRef>
          </c:tx>
          <c:spPr>
            <a:solidFill>
              <a:srgbClr val="5A6170"/>
            </a:solidFill>
            <a:effectLst/>
          </c:spPr>
          <c:invertIfNegative val="0"/>
          <c:dLbls>
            <c:numFmt formatCode="0.0" sourceLinked="0"/>
            <c:txPr>
              <a:bodyPr/>
              <a:lstStyle/>
              <a:p>
                <a:pPr>
                  <a:defRPr b="0" i="0" strike="noStrike" sz="1100" u="none">
                    <a:solidFill>
                      <a:srgbClr val="E8EAF0"/>
                    </a:solidFill>
                    <a:latin typeface="+mn-lt"/>
                  </a:defRPr>
                </a:pPr>
              </a:p>
            </c:txPr>
            <c:showLegendKey val="0"/>
            <c:showVal val="1"/>
            <c:showCatName val="0"/>
            <c:showSerName val="0"/>
            <c:showPercent val="0"/>
            <c:showBubbleSize val="0"/>
            <c:showLeaderLines val="0"/>
          </c:dLbls>
          <c:cat>
            <c:multiLvlStrRef>
              <c:f>Sheet1!$A$2:$A$2</c:f>
              <c:multiLvlStrCache>
                <c:ptCount val="1"/>
                <c:lvl>
                  <c:pt idx="0">
                    <c:v>DetectifAI ops per call</c:v>
                  </c:pt>
                </c:lvl>
              </c:multiLvlStrCache>
            </c:multiLvlStrRef>
          </c:cat>
          <c:val>
            <c:numRef>
              <c:f>Sheet1!$B$2:$B$2</c:f>
              <c:numCache>
                <c:formatCode>General</c:formatCode>
                <c:ptCount val="1"/>
                <c:pt idx="0">
                  <c:v>15</c:v>
                </c:pt>
              </c:numCache>
            </c:numRef>
          </c:val>
        </c:ser>
        <c:ser>
          <c:idx val="1"/>
          <c:order val="1"/>
          <c:tx>
            <c:strRef>
              <c:f>Sheet1!$C$1</c:f>
              <c:strCache>
                <c:ptCount val="1"/>
                <c:pt idx="0">
                  <c:v>CallShield (risky moments only)</c:v>
                </c:pt>
              </c:strCache>
            </c:strRef>
          </c:tx>
          <c:spPr>
            <a:solidFill>
              <a:srgbClr val="D4FF2A"/>
            </a:solidFill>
            <a:effectLst/>
          </c:spPr>
          <c:invertIfNegative val="0"/>
          <c:dLbls>
            <c:numFmt formatCode="0.0" sourceLinked="0"/>
            <c:txPr>
              <a:bodyPr/>
              <a:lstStyle/>
              <a:p>
                <a:pPr>
                  <a:defRPr b="0" i="0" strike="noStrike" sz="1100" u="none">
                    <a:solidFill>
                      <a:srgbClr val="E8EAF0"/>
                    </a:solidFill>
                    <a:latin typeface="+mn-lt"/>
                  </a:defRPr>
                </a:pPr>
              </a:p>
            </c:txPr>
            <c:showLegendKey val="0"/>
            <c:showVal val="1"/>
            <c:showCatName val="0"/>
            <c:showSerName val="0"/>
            <c:showPercent val="0"/>
            <c:showBubbleSize val="0"/>
            <c:showLeaderLines val="0"/>
          </c:dLbls>
          <c:cat>
            <c:multiLvlStrRef>
              <c:f>Sheet1!$A$2:$A$2</c:f>
              <c:multiLvlStrCache>
                <c:ptCount val="1"/>
                <c:lvl>
                  <c:pt idx="0">
                    <c:v>DetectifAI ops per call</c:v>
                  </c:pt>
                </c:lvl>
              </c:multiLvlStrCache>
            </c:multiLvlStrRef>
          </c:cat>
          <c:val>
            <c:numRef>
              <c:f>Sheet1!$C$2:$C$2</c:f>
              <c:numCache>
                <c:formatCode>General</c:formatCode>
                <c:ptCount val="1"/>
                <c:pt idx="0">
                  <c:v>0.2</c:v>
                </c:pt>
              </c:numCache>
            </c:numRef>
          </c:val>
        </c:ser>
        <c:dLbls>
          <c:numFmt formatCode="0.0" sourceLinked="0"/>
          <c:txPr>
            <a:bodyPr/>
            <a:lstStyle/>
            <a:p>
              <a:pPr>
                <a:defRPr b="0" i="0" strike="noStrike" sz="1100" u="none">
                  <a:solidFill>
                    <a:srgbClr val="E8EAF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9AA3B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ZAIN · ~15 s
Meet a bank helpline agent. A caller sounds exactly like the customer: "I lost my phone, reset my SIM and send the OTP to my new number." It's an AI clone, made from twenty seconds of a voice note. Once the OTP moves, the money moves, and India lost twenty-two thousand crore rupees to cyber fraud last year.
Sources if asked: MHA written reply in the Lok Sabha, 22 Jul 2025 (₹22,845.73 cr in 2024 vs ₹7,465.18 cr in 2023). McAfee "Beware the Artificial Impostor", Apr 2023 (69% of Indian adults not confident they could identify a cloned voice). The "20 s" figure is our own Attack Lab test with the open-source Chatterbox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ZAIN · ~15 s
CallShield sits on the agent's screen. It listens to the call, and the moment the caller asks for something risky (a transfer, a SIM reset, a limit change or a new payee) it checks the last eight seconds of their voice and decides: approve, step up or block. If it blocks, the real customer's phone is alerted.
Screenshot: a real live check from today (check chk_37577004f12344df).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ZAIN · ~20 s
DetectifAI is the decision. In one request we run speaker verification (is this the customer?) and deepfake detection (is this voice real?). A fake voice is blocked. A wrong speaker is blocked. If it's unsure, we step up. Here's why we need both: our own AI clone fooled the voiceprint at 0.81, and only deepfake detection caught it. Our tools are listed at the bottom.
If asked "where in the flow": only at the risky-request moment, on the last 8 s of caller audio; enrollment happens once at onboarding. One /v1/speakers/verify request with detect_deepfake=true; /v1/deepfake/detect for callers who aren't enrolled.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NAZEEF · ~12 s
These are real results from today, all live DetectifAI calls. Seven out of seven decisions correct, in about three seconds. Genuine callers were approved. An impostor was blocked, and the real customer tapped "Not me". The clone was blocked too, even though it fooled the voiceprint.
Data: the CallShield audit log, 16 Oct 2026 (7 live assessments; latency 2.5–4.0 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NAZEEF · ~13 s
It scales because the bank only pays when money is about to move: about seventy-five times fewer API calls than scanning whole calls, and it plugs into the call-centre audio streams banks already use. What you're seeing is a prototype, but it already does pretty much everything: live calls, both DetectifAI APIs, customer alerts and our own voice-clone attack lab. Next, we turn it into a proper working web app and test it on real phone-line audio. Now, judge, let's try it with your voice.
──── LIVE DEMO RUN SHEET (~95 s, Nazeef drives, Zain is the impostor) ────
SETUP (before the timer if allowed): ask the judge for consent → judge reads the card for 25 s (Sound Recorder) → upload once to Enroll (ID judge-01) and once to the Attack Lab (tick consent, choose the SIM/OTP script, Generate clone). Phone page open in a second window. Auto-trigger OFF.
1. REAL: Console → customer judge-01 → Start call → the judge says "I'd like to increase my daily limit" → Limit change → APPROVE.
2. IMPOSTOR: Zain says "This is [judge], transfer fifty thousand to my brother" → Fund transfer → BLOCK (no match) → phone buzzes.
3. CLONE: Attack Lab → play the clone → Attack CallShield (judge-01, SIM/OTP reset) → BLOCK: the clone MATCHED the voiceprint but deepfake = fake → the judge taps "Not me".
CLOSE: point to the audit log (live request IDs, nothing pre-recorded) → delete the judge's voiceprint → ZAIN: "Your voice can be copied. Your account can't."
FALLBACK if the judge declines: the same 3 steps with Zain enrolled (cust-zain-01), Nazeef as the impostor, Zain's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S_CONTENT">
    <p:bg>
      <p:bgPr>
        <a:solidFill>
          <a:srgbClr val="0F111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68580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rtlCol="0"/>
          <a:lstStyle>
            <a:lvl1pPr algn="l" indent="0" marL="0">
              <a:buNone/>
              <a:defRPr lang="en-US" sz="2400" b="1" dirty="0">
                <a:solidFill>
                  <a:schemeClr val="tx1"/>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4" name="Text 0"/>
          <p:cNvSpPr txBox="1"/>
          <p:nvPr/>
        </p:nvSpPr>
        <p:spPr>
          <a:xfrm>
            <a:off x="457200" y="4818888"/>
            <a:ext cx="5486400" cy="228600"/>
          </a:xfrm>
          <a:prstGeom prst="rect">
            <a:avLst/>
          </a:prstGeom>
          <a:noFill/>
          <a:ln/>
        </p:spPr>
        <p:txBody>
          <a:bodyPr wrap="square" lIns="0" tIns="0" rIns="0" bIns="0" rtlCol="0" anchor="ctr"/>
          <a:lstStyle/>
          <a:p>
            <a:pPr indent="0" marL="0">
              <a:buNone/>
            </a:pPr>
            <a:r>
              <a:rPr lang="en-US" sz="1000" dirty="0">
                <a:solidFill>
                  <a:schemeClr val="tx2"/>
                </a:solidFill>
              </a:rPr>
              <a:t>CallShield  ·  UNCLONE 2026  ·  Track 01 Unclone Finance</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6858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01 · PROBLEM</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It sounds like your customer. It isn't.</a:t>
            </a:r>
            <a:endParaRPr lang="en-US" sz="2400" dirty="0"/>
          </a:p>
        </p:txBody>
      </p:sp>
      <p:sp>
        <p:nvSpPr>
          <p:cNvPr id="4" name="Shape 2"/>
          <p:cNvSpPr/>
          <p:nvPr/>
        </p:nvSpPr>
        <p:spPr>
          <a:xfrm>
            <a:off x="457200" y="1325880"/>
            <a:ext cx="566928" cy="566928"/>
          </a:xfrm>
          <a:prstGeom prst="ellipse">
            <a:avLst/>
          </a:prstGeom>
          <a:solidFill>
            <a:srgbClr val="171A21"/>
          </a:solidFill>
          <a:ln w="12700">
            <a:solidFill>
              <a:srgbClr val="171A21"/>
            </a:solidFill>
            <a:prstDash val="solid"/>
          </a:ln>
        </p:spPr>
      </p:sp>
      <p:pic>
        <p:nvPicPr>
          <p:cNvPr id="5" name="Image 0" descr="preencoded.png">    </p:cNvPr>
          <p:cNvPicPr>
            <a:picLocks noChangeAspect="1"/>
          </p:cNvPicPr>
          <p:nvPr/>
        </p:nvPicPr>
        <p:blipFill>
          <a:blip r:embed="rId1"/>
          <a:stretch>
            <a:fillRect/>
          </a:stretch>
        </p:blipFill>
        <p:spPr>
          <a:xfrm>
            <a:off x="581924" y="1450604"/>
            <a:ext cx="317480" cy="317480"/>
          </a:xfrm>
          <a:prstGeom prst="rect">
            <a:avLst/>
          </a:prstGeom>
        </p:spPr>
      </p:pic>
      <p:sp>
        <p:nvSpPr>
          <p:cNvPr id="6" name="Text 3"/>
          <p:cNvSpPr txBox="1"/>
          <p:nvPr/>
        </p:nvSpPr>
        <p:spPr>
          <a:xfrm>
            <a:off x="1161288" y="1280160"/>
            <a:ext cx="4206240" cy="658368"/>
          </a:xfrm>
          <a:prstGeom prst="rect">
            <a:avLst/>
          </a:prstGeom>
          <a:noFill/>
          <a:ln/>
        </p:spPr>
        <p:txBody>
          <a:bodyPr wrap="square" lIns="0" tIns="0" rIns="0" bIns="0" rtlCol="0" anchor="ctr"/>
          <a:lstStyle/>
          <a:p>
            <a:pPr indent="0" marL="0">
              <a:buNone/>
            </a:pPr>
            <a:r>
              <a:rPr lang="en-US" sz="1400" dirty="0">
                <a:solidFill>
                  <a:srgbClr val="9AA3B2"/>
                </a:solidFill>
              </a:rPr>
              <a:t>Our user: </a:t>
            </a:r>
            <a:pPr indent="0" marL="0">
              <a:buNone/>
            </a:pPr>
            <a:r>
              <a:rPr lang="en-US" sz="1400" b="1" dirty="0">
                <a:solidFill>
                  <a:srgbClr val="E8EAF0"/>
                </a:solidFill>
              </a:rPr>
              <a:t>the agent on a bank / UPI support helpline</a:t>
            </a:r>
            <a:endParaRPr lang="en-US" sz="1400" dirty="0"/>
          </a:p>
          <a:p>
            <a:pPr indent="0" marL="0">
              <a:buNone/>
            </a:pPr>
            <a:r>
              <a:rPr lang="en-US" sz="1400" dirty="0">
                <a:solidFill>
                  <a:srgbClr val="9AA3B2"/>
                </a:solidFill>
              </a:rPr>
              <a:t>who has only a voice to decide who is calling.</a:t>
            </a:r>
            <a:endParaRPr lang="en-US" sz="1400" dirty="0"/>
          </a:p>
        </p:txBody>
      </p:sp>
      <p:sp>
        <p:nvSpPr>
          <p:cNvPr id="7" name="moment"/>
          <p:cNvSpPr/>
          <p:nvPr/>
        </p:nvSpPr>
        <p:spPr>
          <a:xfrm>
            <a:off x="457200" y="2103120"/>
            <a:ext cx="4937760" cy="1371600"/>
          </a:xfrm>
          <a:prstGeom prst="roundRect">
            <a:avLst>
              <a:gd name="adj" fmla="val 5333"/>
            </a:avLst>
          </a:prstGeom>
          <a:solidFill>
            <a:srgbClr val="171A21"/>
          </a:solidFill>
          <a:ln w="12700">
            <a:solidFill>
              <a:srgbClr val="2A2F3A"/>
            </a:solidFill>
            <a:prstDash val="solid"/>
          </a:ln>
        </p:spPr>
      </p:sp>
      <p:pic>
        <p:nvPicPr>
          <p:cNvPr id="8" name="Image 1" descr="preencoded.png">    </p:cNvPr>
          <p:cNvPicPr>
            <a:picLocks noChangeAspect="1"/>
          </p:cNvPicPr>
          <p:nvPr/>
        </p:nvPicPr>
        <p:blipFill>
          <a:blip r:embed="rId2"/>
          <a:stretch>
            <a:fillRect/>
          </a:stretch>
        </p:blipFill>
        <p:spPr>
          <a:xfrm>
            <a:off x="658368" y="2258568"/>
            <a:ext cx="274320" cy="274320"/>
          </a:xfrm>
          <a:prstGeom prst="rect">
            <a:avLst/>
          </a:prstGeom>
        </p:spPr>
      </p:pic>
      <p:sp>
        <p:nvSpPr>
          <p:cNvPr id="9" name="Text 5"/>
          <p:cNvSpPr txBox="1"/>
          <p:nvPr/>
        </p:nvSpPr>
        <p:spPr>
          <a:xfrm>
            <a:off x="1024128" y="2240280"/>
            <a:ext cx="4206240" cy="292608"/>
          </a:xfrm>
          <a:prstGeom prst="rect">
            <a:avLst/>
          </a:prstGeom>
          <a:noFill/>
          <a:ln/>
        </p:spPr>
        <p:txBody>
          <a:bodyPr wrap="square" lIns="0" tIns="0" rIns="0" bIns="0" rtlCol="0" anchor="ctr"/>
          <a:lstStyle/>
          <a:p>
            <a:pPr indent="0" marL="0">
              <a:buNone/>
            </a:pPr>
            <a:r>
              <a:rPr lang="en-US" sz="1100" b="1" spc="100" kern="0" dirty="0">
                <a:solidFill>
                  <a:srgbClr val="FF4D3D"/>
                </a:solidFill>
              </a:rPr>
              <a:t>THE MOMENT · the caller is an AI clone of the customer</a:t>
            </a:r>
            <a:endParaRPr lang="en-US" sz="1100" dirty="0"/>
          </a:p>
        </p:txBody>
      </p:sp>
      <p:sp>
        <p:nvSpPr>
          <p:cNvPr id="10" name="Text 6"/>
          <p:cNvSpPr txBox="1"/>
          <p:nvPr/>
        </p:nvSpPr>
        <p:spPr>
          <a:xfrm>
            <a:off x="658368" y="2606040"/>
            <a:ext cx="4572000" cy="777240"/>
          </a:xfrm>
          <a:prstGeom prst="rect">
            <a:avLst/>
          </a:prstGeom>
          <a:noFill/>
          <a:ln/>
        </p:spPr>
        <p:txBody>
          <a:bodyPr wrap="square" lIns="0" tIns="0" rIns="0" bIns="0" rtlCol="0" anchor="t"/>
          <a:lstStyle/>
          <a:p>
            <a:pPr indent="0" marL="0">
              <a:buNone/>
            </a:pPr>
            <a:r>
              <a:rPr lang="en-US" sz="1600" i="1" dirty="0">
                <a:solidFill>
                  <a:srgbClr val="E8EAF0"/>
                </a:solidFill>
              </a:rPr>
              <a:t>“Hi, it's Zain. I lost my phone — please reset my SIM and send the OTP to my new number.”</a:t>
            </a:r>
            <a:endParaRPr lang="en-US" sz="1600" dirty="0"/>
          </a:p>
        </p:txBody>
      </p:sp>
      <p:pic>
        <p:nvPicPr>
          <p:cNvPr id="11" name="Image 2" descr="preencoded.png">    </p:cNvPr>
          <p:cNvPicPr>
            <a:picLocks noChangeAspect="1"/>
          </p:cNvPicPr>
          <p:nvPr/>
        </p:nvPicPr>
        <p:blipFill>
          <a:blip r:embed="rId3"/>
          <a:stretch>
            <a:fillRect/>
          </a:stretch>
        </p:blipFill>
        <p:spPr>
          <a:xfrm>
            <a:off x="566928" y="3767328"/>
            <a:ext cx="347472" cy="347472"/>
          </a:xfrm>
          <a:prstGeom prst="rect">
            <a:avLst/>
          </a:prstGeom>
        </p:spPr>
      </p:pic>
      <p:sp>
        <p:nvSpPr>
          <p:cNvPr id="12" name="Text 7"/>
          <p:cNvSpPr txBox="1"/>
          <p:nvPr/>
        </p:nvSpPr>
        <p:spPr>
          <a:xfrm>
            <a:off x="1161288" y="3639312"/>
            <a:ext cx="4206240" cy="640080"/>
          </a:xfrm>
          <a:prstGeom prst="rect">
            <a:avLst/>
          </a:prstGeom>
          <a:noFill/>
          <a:ln/>
        </p:spPr>
        <p:txBody>
          <a:bodyPr wrap="square" lIns="0" tIns="0" rIns="0" bIns="0" rtlCol="0" anchor="ctr"/>
          <a:lstStyle/>
          <a:p>
            <a:pPr indent="0" marL="0">
              <a:buNone/>
            </a:pPr>
            <a:r>
              <a:rPr lang="en-US" sz="1400" b="1" dirty="0">
                <a:solidFill>
                  <a:srgbClr val="FFB020"/>
                </a:solidFill>
              </a:rPr>
              <a:t>Stakes: </a:t>
            </a:r>
            <a:pPr indent="0" marL="0">
              <a:buNone/>
            </a:pPr>
            <a:r>
              <a:rPr lang="en-US" sz="1400" dirty="0">
                <a:solidFill>
                  <a:srgbClr val="E8EAF0"/>
                </a:solidFill>
              </a:rPr>
              <a:t>reset the OTP and the fraudster controls every UPI payment and transfer on that account.</a:t>
            </a:r>
            <a:endParaRPr lang="en-US" sz="1400" dirty="0"/>
          </a:p>
        </p:txBody>
      </p:sp>
      <p:sp>
        <p:nvSpPr>
          <p:cNvPr id="13" name="stat-loss"/>
          <p:cNvSpPr/>
          <p:nvPr/>
        </p:nvSpPr>
        <p:spPr>
          <a:xfrm>
            <a:off x="5760720" y="1325880"/>
            <a:ext cx="2926080" cy="1463040"/>
          </a:xfrm>
          <a:prstGeom prst="roundRect">
            <a:avLst>
              <a:gd name="adj" fmla="val 5000"/>
            </a:avLst>
          </a:prstGeom>
          <a:solidFill>
            <a:srgbClr val="171A21"/>
          </a:solidFill>
          <a:ln w="12700">
            <a:solidFill>
              <a:srgbClr val="2A2F3A"/>
            </a:solidFill>
            <a:prstDash val="solid"/>
          </a:ln>
        </p:spPr>
      </p:sp>
      <p:sp>
        <p:nvSpPr>
          <p:cNvPr id="14" name="Text 9"/>
          <p:cNvSpPr txBox="1"/>
          <p:nvPr/>
        </p:nvSpPr>
        <p:spPr>
          <a:xfrm>
            <a:off x="5943600" y="1417320"/>
            <a:ext cx="2651760" cy="594360"/>
          </a:xfrm>
          <a:prstGeom prst="rect">
            <a:avLst/>
          </a:prstGeom>
          <a:noFill/>
          <a:ln/>
        </p:spPr>
        <p:txBody>
          <a:bodyPr wrap="square" lIns="0" tIns="0" rIns="0" bIns="0" rtlCol="0" anchor="ctr"/>
          <a:lstStyle/>
          <a:p>
            <a:pPr indent="0" marL="0">
              <a:buNone/>
            </a:pPr>
            <a:r>
              <a:rPr lang="en-US" sz="3400" b="1" dirty="0">
                <a:solidFill>
                  <a:srgbClr val="D4FF2A"/>
                </a:solidFill>
                <a:latin typeface="Arial" pitchFamily="34" charset="0"/>
                <a:ea typeface="Arial" pitchFamily="34" charset="-122"/>
                <a:cs typeface="Arial" pitchFamily="34" charset="-120"/>
              </a:rPr>
              <a:t>₹22,845 cr</a:t>
            </a:r>
            <a:endParaRPr lang="en-US" sz="3400" dirty="0"/>
          </a:p>
        </p:txBody>
      </p:sp>
      <p:sp>
        <p:nvSpPr>
          <p:cNvPr id="15" name="Text 10"/>
          <p:cNvSpPr txBox="1"/>
          <p:nvPr/>
        </p:nvSpPr>
        <p:spPr>
          <a:xfrm>
            <a:off x="5943600" y="2011680"/>
            <a:ext cx="2651760" cy="411480"/>
          </a:xfrm>
          <a:prstGeom prst="rect">
            <a:avLst/>
          </a:prstGeom>
          <a:noFill/>
          <a:ln/>
        </p:spPr>
        <p:txBody>
          <a:bodyPr wrap="square" lIns="0" tIns="0" rIns="0" bIns="0" rtlCol="0" anchor="ctr"/>
          <a:lstStyle/>
          <a:p>
            <a:pPr indent="0" marL="0">
              <a:buNone/>
            </a:pPr>
            <a:r>
              <a:rPr lang="en-US" sz="1200" dirty="0">
                <a:solidFill>
                  <a:srgbClr val="E8EAF0"/>
                </a:solidFill>
              </a:rPr>
              <a:t>lost to cyber fraud in India in 2024</a:t>
            </a:r>
            <a:endParaRPr lang="en-US" sz="1200" dirty="0"/>
          </a:p>
        </p:txBody>
      </p:sp>
      <p:sp>
        <p:nvSpPr>
          <p:cNvPr id="16" name="Text 11"/>
          <p:cNvSpPr txBox="1"/>
          <p:nvPr/>
        </p:nvSpPr>
        <p:spPr>
          <a:xfrm>
            <a:off x="5943600" y="2450592"/>
            <a:ext cx="2651760" cy="228600"/>
          </a:xfrm>
          <a:prstGeom prst="rect">
            <a:avLst/>
          </a:prstGeom>
          <a:noFill/>
          <a:ln/>
        </p:spPr>
        <p:txBody>
          <a:bodyPr wrap="square" lIns="0" tIns="0" rIns="0" bIns="0" rtlCol="0" anchor="ctr"/>
          <a:lstStyle/>
          <a:p>
            <a:pPr indent="0" marL="0">
              <a:buNone/>
            </a:pPr>
            <a:r>
              <a:rPr lang="en-US" sz="1000" dirty="0">
                <a:solidFill>
                  <a:srgbClr val="9AA3B2"/>
                </a:solidFill>
              </a:rPr>
              <a:t>3× 2023 · MHA, Lok Sabha, Jul 2025</a:t>
            </a:r>
            <a:endParaRPr lang="en-US" sz="1000" dirty="0"/>
          </a:p>
        </p:txBody>
      </p:sp>
      <p:sp>
        <p:nvSpPr>
          <p:cNvPr id="17" name="stat-clone"/>
          <p:cNvSpPr/>
          <p:nvPr/>
        </p:nvSpPr>
        <p:spPr>
          <a:xfrm>
            <a:off x="5760720" y="2926080"/>
            <a:ext cx="2926080" cy="1463040"/>
          </a:xfrm>
          <a:prstGeom prst="roundRect">
            <a:avLst>
              <a:gd name="adj" fmla="val 5000"/>
            </a:avLst>
          </a:prstGeom>
          <a:solidFill>
            <a:srgbClr val="171A21"/>
          </a:solidFill>
          <a:ln w="12700">
            <a:solidFill>
              <a:srgbClr val="2A2F3A"/>
            </a:solidFill>
            <a:prstDash val="solid"/>
          </a:ln>
        </p:spPr>
      </p:sp>
      <p:sp>
        <p:nvSpPr>
          <p:cNvPr id="18" name="Text 13"/>
          <p:cNvSpPr txBox="1"/>
          <p:nvPr/>
        </p:nvSpPr>
        <p:spPr>
          <a:xfrm>
            <a:off x="5943600" y="3017520"/>
            <a:ext cx="2651760" cy="594360"/>
          </a:xfrm>
          <a:prstGeom prst="rect">
            <a:avLst/>
          </a:prstGeom>
          <a:noFill/>
          <a:ln/>
        </p:spPr>
        <p:txBody>
          <a:bodyPr wrap="square" lIns="0" tIns="0" rIns="0" bIns="0" rtlCol="0" anchor="ctr"/>
          <a:lstStyle/>
          <a:p>
            <a:pPr indent="0" marL="0">
              <a:buNone/>
            </a:pPr>
            <a:r>
              <a:rPr lang="en-US" sz="3400" b="1" dirty="0">
                <a:solidFill>
                  <a:srgbClr val="FF4D3D"/>
                </a:solidFill>
                <a:latin typeface="Arial" pitchFamily="34" charset="0"/>
                <a:ea typeface="Arial" pitchFamily="34" charset="-122"/>
                <a:cs typeface="Arial" pitchFamily="34" charset="-120"/>
              </a:rPr>
              <a:t>~20 s</a:t>
            </a:r>
            <a:endParaRPr lang="en-US" sz="3400" dirty="0"/>
          </a:p>
        </p:txBody>
      </p:sp>
      <p:sp>
        <p:nvSpPr>
          <p:cNvPr id="19" name="Text 14"/>
          <p:cNvSpPr txBox="1"/>
          <p:nvPr/>
        </p:nvSpPr>
        <p:spPr>
          <a:xfrm>
            <a:off x="5943600" y="3611880"/>
            <a:ext cx="2651760" cy="411480"/>
          </a:xfrm>
          <a:prstGeom prst="rect">
            <a:avLst/>
          </a:prstGeom>
          <a:noFill/>
          <a:ln/>
        </p:spPr>
        <p:txBody>
          <a:bodyPr wrap="square" lIns="0" tIns="0" rIns="0" bIns="0" rtlCol="0" anchor="ctr"/>
          <a:lstStyle/>
          <a:p>
            <a:pPr indent="0" marL="0">
              <a:buNone/>
            </a:pPr>
            <a:r>
              <a:rPr lang="en-US" sz="1200" dirty="0">
                <a:solidFill>
                  <a:srgbClr val="E8EAF0"/>
                </a:solidFill>
              </a:rPr>
              <a:t>of a voice note is all our open-source cloner needed</a:t>
            </a:r>
            <a:endParaRPr lang="en-US" sz="1200" dirty="0"/>
          </a:p>
        </p:txBody>
      </p:sp>
      <p:sp>
        <p:nvSpPr>
          <p:cNvPr id="20" name="Text 15"/>
          <p:cNvSpPr txBox="1"/>
          <p:nvPr/>
        </p:nvSpPr>
        <p:spPr>
          <a:xfrm>
            <a:off x="5943600" y="4023360"/>
            <a:ext cx="2651760" cy="292608"/>
          </a:xfrm>
          <a:prstGeom prst="rect">
            <a:avLst/>
          </a:prstGeom>
          <a:noFill/>
          <a:ln/>
        </p:spPr>
        <p:txBody>
          <a:bodyPr wrap="square" lIns="0" tIns="0" rIns="0" bIns="0" rtlCol="0" anchor="ctr"/>
          <a:lstStyle/>
          <a:p>
            <a:pPr indent="0" marL="0">
              <a:buNone/>
            </a:pPr>
            <a:r>
              <a:rPr lang="en-US" sz="1000" dirty="0">
                <a:solidFill>
                  <a:srgbClr val="9AA3B2"/>
                </a:solidFill>
              </a:rPr>
              <a:t>69% of Indians aren't sure they'd spot a clone (McAfee, 2023)</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6858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02 · SOLUTION</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CallShield checks the voice when money moves</a:t>
            </a:r>
            <a:endParaRPr lang="en-US" sz="2400" dirty="0"/>
          </a:p>
        </p:txBody>
      </p:sp>
      <p:sp>
        <p:nvSpPr>
          <p:cNvPr id="4" name="Shape 2"/>
          <p:cNvSpPr/>
          <p:nvPr/>
        </p:nvSpPr>
        <p:spPr>
          <a:xfrm>
            <a:off x="457200" y="1371600"/>
            <a:ext cx="384048" cy="384048"/>
          </a:xfrm>
          <a:prstGeom prst="ellipse">
            <a:avLst/>
          </a:prstGeom>
          <a:solidFill>
            <a:srgbClr val="D4FF2A"/>
          </a:solidFill>
          <a:ln w="12700">
            <a:solidFill>
              <a:srgbClr val="D4FF2A"/>
            </a:solidFill>
            <a:prstDash val="solid"/>
          </a:ln>
        </p:spPr>
      </p:sp>
      <p:sp>
        <p:nvSpPr>
          <p:cNvPr id="5" name="Text 3"/>
          <p:cNvSpPr txBox="1"/>
          <p:nvPr/>
        </p:nvSpPr>
        <p:spPr>
          <a:xfrm>
            <a:off x="457200" y="1371600"/>
            <a:ext cx="384048" cy="384048"/>
          </a:xfrm>
          <a:prstGeom prst="rect">
            <a:avLst/>
          </a:prstGeom>
          <a:noFill/>
          <a:ln/>
        </p:spPr>
        <p:txBody>
          <a:bodyPr wrap="square" lIns="0" tIns="0" rIns="0" bIns="0" rtlCol="0" anchor="ctr"/>
          <a:lstStyle/>
          <a:p>
            <a:pPr algn="ctr" indent="0" marL="0">
              <a:buNone/>
            </a:pPr>
            <a:r>
              <a:rPr lang="en-US" sz="1400" b="1" dirty="0">
                <a:solidFill>
                  <a:srgbClr val="0F1115"/>
                </a:solidFill>
              </a:rPr>
              <a:t>1</a:t>
            </a:r>
            <a:endParaRPr lang="en-US" sz="1400" dirty="0"/>
          </a:p>
        </p:txBody>
      </p:sp>
      <p:sp>
        <p:nvSpPr>
          <p:cNvPr id="6" name="Text 4"/>
          <p:cNvSpPr txBox="1"/>
          <p:nvPr/>
        </p:nvSpPr>
        <p:spPr>
          <a:xfrm>
            <a:off x="978408" y="1325880"/>
            <a:ext cx="3017520" cy="713232"/>
          </a:xfrm>
          <a:prstGeom prst="rect">
            <a:avLst/>
          </a:prstGeom>
          <a:noFill/>
          <a:ln/>
        </p:spPr>
        <p:txBody>
          <a:bodyPr wrap="square" lIns="0" tIns="0" rIns="0" bIns="0" rtlCol="0" anchor="t"/>
          <a:lstStyle/>
          <a:p>
            <a:pPr indent="0" marL="0">
              <a:buNone/>
            </a:pPr>
            <a:r>
              <a:rPr lang="en-US" sz="1400" b="1" dirty="0">
                <a:solidFill>
                  <a:srgbClr val="E8EAF0"/>
                </a:solidFill>
              </a:rPr>
              <a:t>Listen</a:t>
            </a:r>
            <a:endParaRPr lang="en-US" sz="1400" dirty="0"/>
          </a:p>
          <a:p>
            <a:pPr indent="0" marL="0">
              <a:buNone/>
            </a:pPr>
            <a:r>
              <a:rPr lang="en-US" sz="1100" dirty="0">
                <a:solidFill>
                  <a:srgbClr val="9AA3B2"/>
                </a:solidFill>
              </a:rPr>
              <a:t>Keeps the caller's last 30 s of voice in a rolling buffer. Costs nothing.</a:t>
            </a:r>
            <a:endParaRPr lang="en-US" sz="1400" dirty="0"/>
          </a:p>
        </p:txBody>
      </p:sp>
      <p:sp>
        <p:nvSpPr>
          <p:cNvPr id="7" name="Shape 5"/>
          <p:cNvSpPr/>
          <p:nvPr/>
        </p:nvSpPr>
        <p:spPr>
          <a:xfrm>
            <a:off x="457200" y="2157984"/>
            <a:ext cx="384048" cy="384048"/>
          </a:xfrm>
          <a:prstGeom prst="ellipse">
            <a:avLst/>
          </a:prstGeom>
          <a:solidFill>
            <a:srgbClr val="D4FF2A"/>
          </a:solidFill>
          <a:ln w="12700">
            <a:solidFill>
              <a:srgbClr val="D4FF2A"/>
            </a:solidFill>
            <a:prstDash val="solid"/>
          </a:ln>
        </p:spPr>
      </p:sp>
      <p:sp>
        <p:nvSpPr>
          <p:cNvPr id="8" name="Text 6"/>
          <p:cNvSpPr txBox="1"/>
          <p:nvPr/>
        </p:nvSpPr>
        <p:spPr>
          <a:xfrm>
            <a:off x="457200" y="2157984"/>
            <a:ext cx="384048" cy="384048"/>
          </a:xfrm>
          <a:prstGeom prst="rect">
            <a:avLst/>
          </a:prstGeom>
          <a:noFill/>
          <a:ln/>
        </p:spPr>
        <p:txBody>
          <a:bodyPr wrap="square" lIns="0" tIns="0" rIns="0" bIns="0" rtlCol="0" anchor="ctr"/>
          <a:lstStyle/>
          <a:p>
            <a:pPr algn="ctr" indent="0" marL="0">
              <a:buNone/>
            </a:pPr>
            <a:r>
              <a:rPr lang="en-US" sz="1400" b="1" dirty="0">
                <a:solidFill>
                  <a:srgbClr val="0F1115"/>
                </a:solidFill>
              </a:rPr>
              <a:t>2</a:t>
            </a:r>
            <a:endParaRPr lang="en-US" sz="1400" dirty="0"/>
          </a:p>
        </p:txBody>
      </p:sp>
      <p:sp>
        <p:nvSpPr>
          <p:cNvPr id="9" name="Text 7"/>
          <p:cNvSpPr txBox="1"/>
          <p:nvPr/>
        </p:nvSpPr>
        <p:spPr>
          <a:xfrm>
            <a:off x="978408" y="2112264"/>
            <a:ext cx="3017520" cy="713232"/>
          </a:xfrm>
          <a:prstGeom prst="rect">
            <a:avLst/>
          </a:prstGeom>
          <a:noFill/>
          <a:ln/>
        </p:spPr>
        <p:txBody>
          <a:bodyPr wrap="square" lIns="0" tIns="0" rIns="0" bIns="0" rtlCol="0" anchor="t"/>
          <a:lstStyle/>
          <a:p>
            <a:pPr indent="0" marL="0">
              <a:buNone/>
            </a:pPr>
            <a:r>
              <a:rPr lang="en-US" sz="1400" b="1" dirty="0">
                <a:solidFill>
                  <a:srgbClr val="E8EAF0"/>
                </a:solidFill>
              </a:rPr>
              <a:t>Trigger</a:t>
            </a:r>
            <a:endParaRPr lang="en-US" sz="1400" dirty="0"/>
          </a:p>
          <a:p>
            <a:pPr indent="0" marL="0">
              <a:buNone/>
            </a:pPr>
            <a:r>
              <a:rPr lang="en-US" sz="1100" dirty="0">
                <a:solidFill>
                  <a:srgbClr val="9AA3B2"/>
                </a:solidFill>
              </a:rPr>
              <a:t>Caller asks for a transfer, SIM/OTP reset, limit change or new payee: spoken keyword or agent click.</a:t>
            </a:r>
            <a:endParaRPr lang="en-US" sz="1400" dirty="0"/>
          </a:p>
        </p:txBody>
      </p:sp>
      <p:sp>
        <p:nvSpPr>
          <p:cNvPr id="10" name="Shape 8"/>
          <p:cNvSpPr/>
          <p:nvPr/>
        </p:nvSpPr>
        <p:spPr>
          <a:xfrm>
            <a:off x="457200" y="2944368"/>
            <a:ext cx="384048" cy="384048"/>
          </a:xfrm>
          <a:prstGeom prst="ellipse">
            <a:avLst/>
          </a:prstGeom>
          <a:solidFill>
            <a:srgbClr val="D4FF2A"/>
          </a:solidFill>
          <a:ln w="12700">
            <a:solidFill>
              <a:srgbClr val="D4FF2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0F1115"/>
                </a:solidFill>
              </a:rPr>
              <a:t>3</a:t>
            </a:r>
            <a:endParaRPr lang="en-US" sz="1400" dirty="0"/>
          </a:p>
        </p:txBody>
      </p:sp>
      <p:sp>
        <p:nvSpPr>
          <p:cNvPr id="12" name="Text 10"/>
          <p:cNvSpPr txBox="1"/>
          <p:nvPr/>
        </p:nvSpPr>
        <p:spPr>
          <a:xfrm>
            <a:off x="978408" y="2898648"/>
            <a:ext cx="3017520" cy="713232"/>
          </a:xfrm>
          <a:prstGeom prst="rect">
            <a:avLst/>
          </a:prstGeom>
          <a:noFill/>
          <a:ln/>
        </p:spPr>
        <p:txBody>
          <a:bodyPr wrap="square" lIns="0" tIns="0" rIns="0" bIns="0" rtlCol="0" anchor="t"/>
          <a:lstStyle/>
          <a:p>
            <a:pPr indent="0" marL="0">
              <a:buNone/>
            </a:pPr>
            <a:r>
              <a:rPr lang="en-US" sz="1400" b="1" dirty="0">
                <a:solidFill>
                  <a:srgbClr val="E8EAF0"/>
                </a:solidFill>
              </a:rPr>
              <a:t>Decide</a:t>
            </a:r>
            <a:endParaRPr lang="en-US" sz="1400" dirty="0"/>
          </a:p>
          <a:p>
            <a:pPr indent="0" marL="0">
              <a:buNone/>
            </a:pPr>
            <a:r>
              <a:rPr lang="en-US" sz="1100" dirty="0">
                <a:solidFill>
                  <a:srgbClr val="9AA3B2"/>
                </a:solidFill>
              </a:rPr>
              <a:t>Last 8 s → DetectifAI → APPROVE · STEP UP · BLOCK, with reasons.</a:t>
            </a:r>
            <a:endParaRPr lang="en-US" sz="1400" dirty="0"/>
          </a:p>
        </p:txBody>
      </p:sp>
      <p:sp>
        <p:nvSpPr>
          <p:cNvPr id="13" name="Shape 11"/>
          <p:cNvSpPr/>
          <p:nvPr/>
        </p:nvSpPr>
        <p:spPr>
          <a:xfrm>
            <a:off x="457200" y="3730752"/>
            <a:ext cx="384048" cy="384048"/>
          </a:xfrm>
          <a:prstGeom prst="ellipse">
            <a:avLst/>
          </a:prstGeom>
          <a:solidFill>
            <a:srgbClr val="D4FF2A"/>
          </a:solidFill>
          <a:ln w="12700">
            <a:solidFill>
              <a:srgbClr val="D4FF2A"/>
            </a:solidFill>
            <a:prstDash val="solid"/>
          </a:ln>
        </p:spPr>
      </p:sp>
      <p:sp>
        <p:nvSpPr>
          <p:cNvPr id="14" name="Text 12"/>
          <p:cNvSpPr txBox="1"/>
          <p:nvPr/>
        </p:nvSpPr>
        <p:spPr>
          <a:xfrm>
            <a:off x="457200" y="3730752"/>
            <a:ext cx="384048" cy="384048"/>
          </a:xfrm>
          <a:prstGeom prst="rect">
            <a:avLst/>
          </a:prstGeom>
          <a:noFill/>
          <a:ln/>
        </p:spPr>
        <p:txBody>
          <a:bodyPr wrap="square" lIns="0" tIns="0" rIns="0" bIns="0" rtlCol="0" anchor="ctr"/>
          <a:lstStyle/>
          <a:p>
            <a:pPr algn="ctr" indent="0" marL="0">
              <a:buNone/>
            </a:pPr>
            <a:r>
              <a:rPr lang="en-US" sz="1400" b="1" dirty="0">
                <a:solidFill>
                  <a:srgbClr val="0F1115"/>
                </a:solidFill>
              </a:rPr>
              <a:t>4</a:t>
            </a:r>
            <a:endParaRPr lang="en-US" sz="1400" dirty="0"/>
          </a:p>
        </p:txBody>
      </p:sp>
      <p:sp>
        <p:nvSpPr>
          <p:cNvPr id="15" name="Text 13"/>
          <p:cNvSpPr txBox="1"/>
          <p:nvPr/>
        </p:nvSpPr>
        <p:spPr>
          <a:xfrm>
            <a:off x="978408" y="3685032"/>
            <a:ext cx="3017520" cy="713232"/>
          </a:xfrm>
          <a:prstGeom prst="rect">
            <a:avLst/>
          </a:prstGeom>
          <a:noFill/>
          <a:ln/>
        </p:spPr>
        <p:txBody>
          <a:bodyPr wrap="square" lIns="0" tIns="0" rIns="0" bIns="0" rtlCol="0" anchor="t"/>
          <a:lstStyle/>
          <a:p>
            <a:pPr indent="0" marL="0">
              <a:buNone/>
            </a:pPr>
            <a:r>
              <a:rPr lang="en-US" sz="1400" b="1" dirty="0">
                <a:solidFill>
                  <a:srgbClr val="E8EAF0"/>
                </a:solidFill>
              </a:rPr>
              <a:t>Alert</a:t>
            </a:r>
            <a:endParaRPr lang="en-US" sz="1400" dirty="0"/>
          </a:p>
          <a:p>
            <a:pPr indent="0" marL="0">
              <a:buNone/>
            </a:pPr>
            <a:r>
              <a:rPr lang="en-US" sz="1100" dirty="0">
                <a:solidFill>
                  <a:srgbClr val="9AA3B2"/>
                </a:solidFill>
              </a:rPr>
              <a:t>Real customer's phone: “Was this you?” → It was me / Not me.</a:t>
            </a:r>
            <a:endParaRPr lang="en-US" sz="1400" dirty="0"/>
          </a:p>
        </p:txBody>
      </p:sp>
      <p:sp>
        <p:nvSpPr>
          <p:cNvPr id="16" name="screenshot-frame"/>
          <p:cNvSpPr/>
          <p:nvPr/>
        </p:nvSpPr>
        <p:spPr>
          <a:xfrm>
            <a:off x="4206240" y="1280160"/>
            <a:ext cx="4526280" cy="2478024"/>
          </a:xfrm>
          <a:prstGeom prst="roundRect">
            <a:avLst>
              <a:gd name="adj" fmla="val 2952"/>
            </a:avLst>
          </a:prstGeom>
          <a:solidFill>
            <a:srgbClr val="171A21"/>
          </a:solidFill>
          <a:ln w="19050">
            <a:solidFill>
              <a:srgbClr val="FF4D3D"/>
            </a:solidFill>
            <a:prstDash val="solid"/>
          </a:ln>
        </p:spPr>
      </p:sp>
      <p:pic>
        <p:nvPicPr>
          <p:cNvPr id="17" name="Image 0" descr="CallShield agent console showing a live BLOCK verdict: synthetic voice 1.00, voice match 0.81, risk 85">    </p:cNvPr>
          <p:cNvPicPr>
            <a:picLocks noChangeAspect="1"/>
          </p:cNvPicPr>
          <p:nvPr/>
        </p:nvPicPr>
        <p:blipFill>
          <a:blip r:embed="rId1"/>
          <a:stretch>
            <a:fillRect/>
          </a:stretch>
        </p:blipFill>
        <p:spPr>
          <a:xfrm>
            <a:off x="4251960" y="1325880"/>
            <a:ext cx="4434840" cy="2386584"/>
          </a:xfrm>
          <a:prstGeom prst="rect">
            <a:avLst/>
          </a:prstGeom>
        </p:spPr>
      </p:pic>
      <p:sp>
        <p:nvSpPr>
          <p:cNvPr id="18" name="Text 15"/>
          <p:cNvSpPr txBox="1"/>
          <p:nvPr/>
        </p:nvSpPr>
        <p:spPr>
          <a:xfrm>
            <a:off x="4206240" y="3840480"/>
            <a:ext cx="4526280" cy="411480"/>
          </a:xfrm>
          <a:prstGeom prst="rect">
            <a:avLst/>
          </a:prstGeom>
          <a:noFill/>
          <a:ln/>
        </p:spPr>
        <p:txBody>
          <a:bodyPr wrap="square" lIns="0" tIns="0" rIns="0" bIns="0" rtlCol="0" anchor="ctr"/>
          <a:lstStyle/>
          <a:p>
            <a:pPr indent="0" marL="0">
              <a:buNone/>
            </a:pPr>
            <a:r>
              <a:rPr lang="en-US" sz="1100" dirty="0">
                <a:solidFill>
                  <a:srgbClr val="9AA3B2"/>
                </a:solidFill>
              </a:rPr>
              <a:t>Live console, real DetectifAI result: an AI clone asks for a SIM/OTP reset → BLOCK in 3.4 s, customer alerted.</a:t>
            </a:r>
            <a:endParaRPr lang="en-US" sz="1100" dirty="0"/>
          </a:p>
        </p:txBody>
      </p:sp>
      <p:sp>
        <p:nvSpPr>
          <p:cNvPr id="19" name="Shape 16"/>
          <p:cNvSpPr/>
          <p:nvPr/>
        </p:nvSpPr>
        <p:spPr>
          <a:xfrm>
            <a:off x="4206240" y="4343400"/>
            <a:ext cx="1371600" cy="292608"/>
          </a:xfrm>
          <a:prstGeom prst="roundRect">
            <a:avLst>
              <a:gd name="adj" fmla="val 50000"/>
            </a:avLst>
          </a:prstGeom>
          <a:solidFill>
            <a:srgbClr val="2ECC71">
              <a:alpha val="20000"/>
            </a:srgbClr>
          </a:solidFill>
          <a:ln w="12700">
            <a:solidFill>
              <a:srgbClr val="2ECC71"/>
            </a:solidFill>
            <a:prstDash val="solid"/>
          </a:ln>
        </p:spPr>
      </p:sp>
      <p:sp>
        <p:nvSpPr>
          <p:cNvPr id="20" name="Text 17"/>
          <p:cNvSpPr txBox="1"/>
          <p:nvPr/>
        </p:nvSpPr>
        <p:spPr>
          <a:xfrm>
            <a:off x="4206240" y="4343400"/>
            <a:ext cx="1371600" cy="292608"/>
          </a:xfrm>
          <a:prstGeom prst="rect">
            <a:avLst/>
          </a:prstGeom>
          <a:noFill/>
          <a:ln/>
        </p:spPr>
        <p:txBody>
          <a:bodyPr wrap="square" lIns="0" tIns="0" rIns="0" bIns="0" rtlCol="0" anchor="ctr"/>
          <a:lstStyle/>
          <a:p>
            <a:pPr algn="ctr" indent="0" marL="0">
              <a:buNone/>
            </a:pPr>
            <a:r>
              <a:rPr lang="en-US" sz="1100" b="1" dirty="0">
                <a:solidFill>
                  <a:srgbClr val="2ECC71"/>
                </a:solidFill>
              </a:rPr>
              <a:t>APPROVE</a:t>
            </a:r>
            <a:endParaRPr lang="en-US" sz="1100" dirty="0"/>
          </a:p>
        </p:txBody>
      </p:sp>
      <p:sp>
        <p:nvSpPr>
          <p:cNvPr id="21" name="Shape 18"/>
          <p:cNvSpPr/>
          <p:nvPr/>
        </p:nvSpPr>
        <p:spPr>
          <a:xfrm>
            <a:off x="5779008" y="4343400"/>
            <a:ext cx="1371600" cy="292608"/>
          </a:xfrm>
          <a:prstGeom prst="roundRect">
            <a:avLst>
              <a:gd name="adj" fmla="val 50000"/>
            </a:avLst>
          </a:prstGeom>
          <a:solidFill>
            <a:srgbClr val="FFB020">
              <a:alpha val="20000"/>
            </a:srgbClr>
          </a:solidFill>
          <a:ln w="12700">
            <a:solidFill>
              <a:srgbClr val="FFB020"/>
            </a:solidFill>
            <a:prstDash val="solid"/>
          </a:ln>
        </p:spPr>
      </p:sp>
      <p:sp>
        <p:nvSpPr>
          <p:cNvPr id="22" name="Text 19"/>
          <p:cNvSpPr txBox="1"/>
          <p:nvPr/>
        </p:nvSpPr>
        <p:spPr>
          <a:xfrm>
            <a:off x="5779008" y="4343400"/>
            <a:ext cx="1371600" cy="292608"/>
          </a:xfrm>
          <a:prstGeom prst="rect">
            <a:avLst/>
          </a:prstGeom>
          <a:noFill/>
          <a:ln/>
        </p:spPr>
        <p:txBody>
          <a:bodyPr wrap="square" lIns="0" tIns="0" rIns="0" bIns="0" rtlCol="0" anchor="ctr"/>
          <a:lstStyle/>
          <a:p>
            <a:pPr algn="ctr" indent="0" marL="0">
              <a:buNone/>
            </a:pPr>
            <a:r>
              <a:rPr lang="en-US" sz="1100" b="1" dirty="0">
                <a:solidFill>
                  <a:srgbClr val="FFB020"/>
                </a:solidFill>
              </a:rPr>
              <a:t>STEP UP</a:t>
            </a:r>
            <a:endParaRPr lang="en-US" sz="1100" dirty="0"/>
          </a:p>
        </p:txBody>
      </p:sp>
      <p:sp>
        <p:nvSpPr>
          <p:cNvPr id="23" name="Shape 20"/>
          <p:cNvSpPr/>
          <p:nvPr/>
        </p:nvSpPr>
        <p:spPr>
          <a:xfrm>
            <a:off x="7360920" y="4343400"/>
            <a:ext cx="1371600" cy="292608"/>
          </a:xfrm>
          <a:prstGeom prst="roundRect">
            <a:avLst>
              <a:gd name="adj" fmla="val 50000"/>
            </a:avLst>
          </a:prstGeom>
          <a:solidFill>
            <a:srgbClr val="FF4D3D">
              <a:alpha val="20000"/>
            </a:srgbClr>
          </a:solidFill>
          <a:ln w="12700">
            <a:solidFill>
              <a:srgbClr val="FF4D3D"/>
            </a:solidFill>
            <a:prstDash val="solid"/>
          </a:ln>
        </p:spPr>
      </p:sp>
      <p:sp>
        <p:nvSpPr>
          <p:cNvPr id="24" name="Text 21"/>
          <p:cNvSpPr txBox="1"/>
          <p:nvPr/>
        </p:nvSpPr>
        <p:spPr>
          <a:xfrm>
            <a:off x="7360920" y="4343400"/>
            <a:ext cx="1371600" cy="292608"/>
          </a:xfrm>
          <a:prstGeom prst="rect">
            <a:avLst/>
          </a:prstGeom>
          <a:noFill/>
          <a:ln/>
        </p:spPr>
        <p:txBody>
          <a:bodyPr wrap="square" lIns="0" tIns="0" rIns="0" bIns="0" rtlCol="0" anchor="ctr"/>
          <a:lstStyle/>
          <a:p>
            <a:pPr algn="ctr" indent="0" marL="0">
              <a:buNone/>
            </a:pPr>
            <a:r>
              <a:rPr lang="en-US" sz="1100" b="1" dirty="0">
                <a:solidFill>
                  <a:srgbClr val="FF4D3D"/>
                </a:solidFill>
              </a:rPr>
              <a:t>BLOCK</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6858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03 · DETECTIFAI · BOTH APIS, ONE CALL</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Take DetectifAI out and nothing gets decided</a:t>
            </a:r>
            <a:endParaRPr lang="en-US" sz="2400" dirty="0"/>
          </a:p>
        </p:txBody>
      </p:sp>
      <p:sp>
        <p:nvSpPr>
          <p:cNvPr id="4" name="flow-trigger"/>
          <p:cNvSpPr/>
          <p:nvPr/>
        </p:nvSpPr>
        <p:spPr>
          <a:xfrm>
            <a:off x="457200" y="1325880"/>
            <a:ext cx="1417320" cy="1234440"/>
          </a:xfrm>
          <a:prstGeom prst="roundRect">
            <a:avLst>
              <a:gd name="adj" fmla="val 5926"/>
            </a:avLst>
          </a:prstGeom>
          <a:solidFill>
            <a:srgbClr val="171A21"/>
          </a:solidFill>
          <a:ln w="12700">
            <a:solidFill>
              <a:srgbClr val="2A2F3A"/>
            </a:solidFill>
            <a:prstDash val="solid"/>
          </a:ln>
        </p:spPr>
      </p:sp>
      <p:pic>
        <p:nvPicPr>
          <p:cNvPr id="5" name="Image 0" descr="preencoded.png">    </p:cNvPr>
          <p:cNvPicPr>
            <a:picLocks noChangeAspect="1"/>
          </p:cNvPicPr>
          <p:nvPr/>
        </p:nvPicPr>
        <p:blipFill>
          <a:blip r:embed="rId1"/>
          <a:stretch>
            <a:fillRect/>
          </a:stretch>
        </p:blipFill>
        <p:spPr>
          <a:xfrm>
            <a:off x="1005840" y="1444752"/>
            <a:ext cx="329184" cy="329184"/>
          </a:xfrm>
          <a:prstGeom prst="rect">
            <a:avLst/>
          </a:prstGeom>
        </p:spPr>
      </p:pic>
      <p:sp>
        <p:nvSpPr>
          <p:cNvPr id="6" name="Text 3"/>
          <p:cNvSpPr txBox="1"/>
          <p:nvPr/>
        </p:nvSpPr>
        <p:spPr>
          <a:xfrm>
            <a:off x="530352" y="1828800"/>
            <a:ext cx="1280160" cy="640080"/>
          </a:xfrm>
          <a:prstGeom prst="rect">
            <a:avLst/>
          </a:prstGeom>
          <a:noFill/>
          <a:ln/>
        </p:spPr>
        <p:txBody>
          <a:bodyPr wrap="square" lIns="0" tIns="0" rIns="0" bIns="0" rtlCol="0" anchor="ctr"/>
          <a:lstStyle/>
          <a:p>
            <a:pPr algn="ctr" indent="0" marL="0">
              <a:buNone/>
            </a:pPr>
            <a:r>
              <a:rPr lang="en-US" sz="1100" dirty="0">
                <a:solidFill>
                  <a:srgbClr val="E8EAF0"/>
                </a:solidFill>
              </a:rPr>
              <a:t>Risky request on the call (last 8 s)</a:t>
            </a:r>
            <a:endParaRPr lang="en-US" sz="1100" dirty="0"/>
          </a:p>
        </p:txBody>
      </p:sp>
      <p:sp>
        <p:nvSpPr>
          <p:cNvPr id="7" name="Shape 4"/>
          <p:cNvSpPr/>
          <p:nvPr/>
        </p:nvSpPr>
        <p:spPr>
          <a:xfrm>
            <a:off x="1920240" y="1938528"/>
            <a:ext cx="274320" cy="0"/>
          </a:xfrm>
          <a:prstGeom prst="line">
            <a:avLst/>
          </a:prstGeom>
          <a:noFill/>
          <a:ln w="19050">
            <a:solidFill>
              <a:srgbClr val="9AA3B2"/>
            </a:solidFill>
            <a:prstDash val="solid"/>
            <a:tailEnd type="triangle"/>
          </a:ln>
        </p:spPr>
      </p:sp>
      <p:sp>
        <p:nvSpPr>
          <p:cNvPr id="8" name="flow-detectif"/>
          <p:cNvSpPr/>
          <p:nvPr/>
        </p:nvSpPr>
        <p:spPr>
          <a:xfrm>
            <a:off x="2240280" y="1280160"/>
            <a:ext cx="3063240" cy="1325880"/>
          </a:xfrm>
          <a:prstGeom prst="roundRect">
            <a:avLst>
              <a:gd name="adj" fmla="val 5517"/>
            </a:avLst>
          </a:prstGeom>
          <a:solidFill>
            <a:srgbClr val="1D2410"/>
          </a:solidFill>
          <a:ln w="25400">
            <a:solidFill>
              <a:srgbClr val="D4FF2A"/>
            </a:solidFill>
            <a:prstDash val="solid"/>
          </a:ln>
        </p:spPr>
      </p:sp>
      <p:sp>
        <p:nvSpPr>
          <p:cNvPr id="9" name="Text 6"/>
          <p:cNvSpPr txBox="1"/>
          <p:nvPr/>
        </p:nvSpPr>
        <p:spPr>
          <a:xfrm>
            <a:off x="2377440" y="1325880"/>
            <a:ext cx="2834640" cy="274320"/>
          </a:xfrm>
          <a:prstGeom prst="rect">
            <a:avLst/>
          </a:prstGeom>
          <a:noFill/>
          <a:ln/>
        </p:spPr>
        <p:txBody>
          <a:bodyPr wrap="square" lIns="0" tIns="0" rIns="0" bIns="0" rtlCol="0" anchor="ctr"/>
          <a:lstStyle/>
          <a:p>
            <a:pPr indent="0" marL="0">
              <a:buNone/>
            </a:pPr>
            <a:r>
              <a:rPr lang="en-US" sz="1100" b="1" dirty="0">
                <a:solidFill>
                  <a:srgbClr val="D4FF2A"/>
                </a:solidFill>
              </a:rPr>
              <a:t>DetectifAI · single verify request</a:t>
            </a:r>
            <a:endParaRPr lang="en-US" sz="1100" dirty="0"/>
          </a:p>
        </p:txBody>
      </p:sp>
      <p:sp>
        <p:nvSpPr>
          <p:cNvPr id="10" name="Shape 7"/>
          <p:cNvSpPr/>
          <p:nvPr/>
        </p:nvSpPr>
        <p:spPr>
          <a:xfrm>
            <a:off x="2377440" y="1645920"/>
            <a:ext cx="365760" cy="365760"/>
          </a:xfrm>
          <a:prstGeom prst="ellipse">
            <a:avLst/>
          </a:prstGeom>
          <a:solidFill>
            <a:srgbClr val="D4FF2A"/>
          </a:solidFill>
          <a:ln w="12700">
            <a:solidFill>
              <a:srgbClr val="D4FF2A"/>
            </a:solidFill>
            <a:prstDash val="solid"/>
          </a:ln>
        </p:spPr>
      </p:sp>
      <p:pic>
        <p:nvPicPr>
          <p:cNvPr id="11" name="Image 1" descr="preencoded.png">    </p:cNvPr>
          <p:cNvPicPr>
            <a:picLocks noChangeAspect="1"/>
          </p:cNvPicPr>
          <p:nvPr/>
        </p:nvPicPr>
        <p:blipFill>
          <a:blip r:embed="rId2"/>
          <a:stretch>
            <a:fillRect/>
          </a:stretch>
        </p:blipFill>
        <p:spPr>
          <a:xfrm>
            <a:off x="2457907" y="1726387"/>
            <a:ext cx="204826" cy="204826"/>
          </a:xfrm>
          <a:prstGeom prst="rect">
            <a:avLst/>
          </a:prstGeom>
        </p:spPr>
      </p:pic>
      <p:sp>
        <p:nvSpPr>
          <p:cNvPr id="12" name="Text 8"/>
          <p:cNvSpPr txBox="1"/>
          <p:nvPr/>
        </p:nvSpPr>
        <p:spPr>
          <a:xfrm>
            <a:off x="2816352" y="1609344"/>
            <a:ext cx="2423160" cy="438912"/>
          </a:xfrm>
          <a:prstGeom prst="rect">
            <a:avLst/>
          </a:prstGeom>
          <a:noFill/>
          <a:ln/>
        </p:spPr>
        <p:txBody>
          <a:bodyPr wrap="square" lIns="0" tIns="0" rIns="0" bIns="0" rtlCol="0" anchor="ctr"/>
          <a:lstStyle/>
          <a:p>
            <a:pPr indent="0" marL="0">
              <a:buNone/>
            </a:pPr>
            <a:r>
              <a:rPr lang="en-US" sz="1200" b="1" dirty="0">
                <a:solidFill>
                  <a:srgbClr val="E8EAF0"/>
                </a:solidFill>
              </a:rPr>
              <a:t>Speaker Verification</a:t>
            </a:r>
            <a:endParaRPr lang="en-US" sz="1200" dirty="0"/>
          </a:p>
          <a:p>
            <a:pPr indent="0" marL="0">
              <a:buNone/>
            </a:pPr>
            <a:r>
              <a:rPr lang="en-US" sz="1000" dirty="0">
                <a:solidFill>
                  <a:srgbClr val="9AA3B2"/>
                </a:solidFill>
              </a:rPr>
              <a:t>Is it the enrolled customer?</a:t>
            </a:r>
            <a:endParaRPr lang="en-US" sz="1200" dirty="0"/>
          </a:p>
        </p:txBody>
      </p:sp>
      <p:sp>
        <p:nvSpPr>
          <p:cNvPr id="13" name="Shape 9"/>
          <p:cNvSpPr/>
          <p:nvPr/>
        </p:nvSpPr>
        <p:spPr>
          <a:xfrm>
            <a:off x="2377440" y="2103120"/>
            <a:ext cx="365760" cy="365760"/>
          </a:xfrm>
          <a:prstGeom prst="ellipse">
            <a:avLst/>
          </a:prstGeom>
          <a:solidFill>
            <a:srgbClr val="D4FF2A"/>
          </a:solidFill>
          <a:ln w="12700">
            <a:solidFill>
              <a:srgbClr val="D4FF2A"/>
            </a:solidFill>
            <a:prstDash val="solid"/>
          </a:ln>
        </p:spPr>
      </p:sp>
      <p:pic>
        <p:nvPicPr>
          <p:cNvPr id="14" name="Image 2" descr="preencoded.png">    </p:cNvPr>
          <p:cNvPicPr>
            <a:picLocks noChangeAspect="1"/>
          </p:cNvPicPr>
          <p:nvPr/>
        </p:nvPicPr>
        <p:blipFill>
          <a:blip r:embed="rId3"/>
          <a:stretch>
            <a:fillRect/>
          </a:stretch>
        </p:blipFill>
        <p:spPr>
          <a:xfrm>
            <a:off x="2457907" y="2183587"/>
            <a:ext cx="204826" cy="204826"/>
          </a:xfrm>
          <a:prstGeom prst="rect">
            <a:avLst/>
          </a:prstGeom>
        </p:spPr>
      </p:pic>
      <p:sp>
        <p:nvSpPr>
          <p:cNvPr id="15" name="Text 10"/>
          <p:cNvSpPr txBox="1"/>
          <p:nvPr/>
        </p:nvSpPr>
        <p:spPr>
          <a:xfrm>
            <a:off x="2816352" y="2066544"/>
            <a:ext cx="2423160" cy="438912"/>
          </a:xfrm>
          <a:prstGeom prst="rect">
            <a:avLst/>
          </a:prstGeom>
          <a:noFill/>
          <a:ln/>
        </p:spPr>
        <p:txBody>
          <a:bodyPr wrap="square" lIns="0" tIns="0" rIns="0" bIns="0" rtlCol="0" anchor="ctr"/>
          <a:lstStyle/>
          <a:p>
            <a:pPr indent="0" marL="0">
              <a:buNone/>
            </a:pPr>
            <a:r>
              <a:rPr lang="en-US" sz="1200" b="1" dirty="0">
                <a:solidFill>
                  <a:srgbClr val="E8EAF0"/>
                </a:solidFill>
              </a:rPr>
              <a:t>Deepfake Detection</a:t>
            </a:r>
            <a:endParaRPr lang="en-US" sz="1200" dirty="0"/>
          </a:p>
          <a:p>
            <a:pPr indent="0" marL="0">
              <a:buNone/>
            </a:pPr>
            <a:r>
              <a:rPr lang="en-US" sz="1000" dirty="0">
                <a:solidFill>
                  <a:srgbClr val="9AA3B2"/>
                </a:solidFill>
              </a:rPr>
              <a:t>Is the voice human or AI?</a:t>
            </a:r>
            <a:endParaRPr lang="en-US" sz="1200" dirty="0"/>
          </a:p>
        </p:txBody>
      </p:sp>
      <p:sp>
        <p:nvSpPr>
          <p:cNvPr id="16" name="Shape 11"/>
          <p:cNvSpPr/>
          <p:nvPr/>
        </p:nvSpPr>
        <p:spPr>
          <a:xfrm>
            <a:off x="5349240" y="1938528"/>
            <a:ext cx="274320" cy="0"/>
          </a:xfrm>
          <a:prstGeom prst="line">
            <a:avLst/>
          </a:prstGeom>
          <a:noFill/>
          <a:ln w="19050">
            <a:solidFill>
              <a:srgbClr val="9AA3B2"/>
            </a:solidFill>
            <a:prstDash val="solid"/>
            <a:tailEnd type="triangle"/>
          </a:ln>
        </p:spPr>
      </p:sp>
      <p:sp>
        <p:nvSpPr>
          <p:cNvPr id="17" name="flow-engine"/>
          <p:cNvSpPr/>
          <p:nvPr/>
        </p:nvSpPr>
        <p:spPr>
          <a:xfrm>
            <a:off x="5669280" y="1325880"/>
            <a:ext cx="1234440" cy="1234440"/>
          </a:xfrm>
          <a:prstGeom prst="roundRect">
            <a:avLst>
              <a:gd name="adj" fmla="val 5926"/>
            </a:avLst>
          </a:prstGeom>
          <a:solidFill>
            <a:srgbClr val="171A21"/>
          </a:solidFill>
          <a:ln w="12700">
            <a:solidFill>
              <a:srgbClr val="2A2F3A"/>
            </a:solidFill>
            <a:prstDash val="solid"/>
          </a:ln>
        </p:spPr>
      </p:sp>
      <p:pic>
        <p:nvPicPr>
          <p:cNvPr id="18" name="Image 3" descr="preencoded.png">    </p:cNvPr>
          <p:cNvPicPr>
            <a:picLocks noChangeAspect="1"/>
          </p:cNvPicPr>
          <p:nvPr/>
        </p:nvPicPr>
        <p:blipFill>
          <a:blip r:embed="rId4"/>
          <a:stretch>
            <a:fillRect/>
          </a:stretch>
        </p:blipFill>
        <p:spPr>
          <a:xfrm>
            <a:off x="6117336" y="1444752"/>
            <a:ext cx="329184" cy="329184"/>
          </a:xfrm>
          <a:prstGeom prst="rect">
            <a:avLst/>
          </a:prstGeom>
        </p:spPr>
      </p:pic>
      <p:sp>
        <p:nvSpPr>
          <p:cNvPr id="19" name="Text 13"/>
          <p:cNvSpPr txBox="1"/>
          <p:nvPr/>
        </p:nvSpPr>
        <p:spPr>
          <a:xfrm>
            <a:off x="5715000" y="1828800"/>
            <a:ext cx="1143000" cy="640080"/>
          </a:xfrm>
          <a:prstGeom prst="rect">
            <a:avLst/>
          </a:prstGeom>
          <a:noFill/>
          <a:ln/>
        </p:spPr>
        <p:txBody>
          <a:bodyPr wrap="square" lIns="0" tIns="0" rIns="0" bIns="0" rtlCol="0" anchor="ctr"/>
          <a:lstStyle/>
          <a:p>
            <a:pPr algn="ctr" indent="0" marL="0">
              <a:buNone/>
            </a:pPr>
            <a:r>
              <a:rPr lang="en-US" sz="1100" dirty="0">
                <a:solidFill>
                  <a:srgbClr val="E8EAF0"/>
                </a:solidFill>
              </a:rPr>
              <a:t>Risk engine</a:t>
            </a:r>
            <a:endParaRPr lang="en-US" sz="1100" dirty="0"/>
          </a:p>
          <a:p>
            <a:pPr algn="ctr" indent="0" marL="0">
              <a:buNone/>
            </a:pPr>
            <a:r>
              <a:rPr lang="en-US" sz="1100" dirty="0">
                <a:solidFill>
                  <a:srgbClr val="E8EAF0"/>
                </a:solidFill>
              </a:rPr>
              <a:t>score 0–100</a:t>
            </a:r>
            <a:endParaRPr lang="en-US" sz="1100" dirty="0"/>
          </a:p>
        </p:txBody>
      </p:sp>
      <p:sp>
        <p:nvSpPr>
          <p:cNvPr id="20" name="Shape 14"/>
          <p:cNvSpPr/>
          <p:nvPr/>
        </p:nvSpPr>
        <p:spPr>
          <a:xfrm>
            <a:off x="6949440" y="1938528"/>
            <a:ext cx="274320" cy="0"/>
          </a:xfrm>
          <a:prstGeom prst="line">
            <a:avLst/>
          </a:prstGeom>
          <a:noFill/>
          <a:ln w="19050">
            <a:solidFill>
              <a:srgbClr val="9AA3B2"/>
            </a:solidFill>
            <a:prstDash val="solid"/>
            <a:tailEnd type="triangle"/>
          </a:ln>
        </p:spPr>
      </p:sp>
      <p:sp>
        <p:nvSpPr>
          <p:cNvPr id="21" name="Shape 15"/>
          <p:cNvSpPr/>
          <p:nvPr/>
        </p:nvSpPr>
        <p:spPr>
          <a:xfrm>
            <a:off x="7269480" y="1325880"/>
            <a:ext cx="1417320" cy="292608"/>
          </a:xfrm>
          <a:prstGeom prst="roundRect">
            <a:avLst>
              <a:gd name="adj" fmla="val 50000"/>
            </a:avLst>
          </a:prstGeom>
          <a:solidFill>
            <a:srgbClr val="2ECC71">
              <a:alpha val="20000"/>
            </a:srgbClr>
          </a:solidFill>
          <a:ln w="12700">
            <a:solidFill>
              <a:srgbClr val="2ECC71"/>
            </a:solidFill>
            <a:prstDash val="solid"/>
          </a:ln>
        </p:spPr>
      </p:sp>
      <p:sp>
        <p:nvSpPr>
          <p:cNvPr id="22" name="Text 16"/>
          <p:cNvSpPr txBox="1"/>
          <p:nvPr/>
        </p:nvSpPr>
        <p:spPr>
          <a:xfrm>
            <a:off x="7269480" y="1325880"/>
            <a:ext cx="1417320" cy="292608"/>
          </a:xfrm>
          <a:prstGeom prst="rect">
            <a:avLst/>
          </a:prstGeom>
          <a:noFill/>
          <a:ln/>
        </p:spPr>
        <p:txBody>
          <a:bodyPr wrap="square" lIns="0" tIns="0" rIns="0" bIns="0" rtlCol="0" anchor="ctr"/>
          <a:lstStyle/>
          <a:p>
            <a:pPr algn="ctr" indent="0" marL="0">
              <a:buNone/>
            </a:pPr>
            <a:r>
              <a:rPr lang="en-US" sz="1000" b="1" dirty="0">
                <a:solidFill>
                  <a:srgbClr val="2ECC71"/>
                </a:solidFill>
              </a:rPr>
              <a:t>APPROVE</a:t>
            </a:r>
            <a:endParaRPr lang="en-US" sz="1000" dirty="0"/>
          </a:p>
        </p:txBody>
      </p:sp>
      <p:sp>
        <p:nvSpPr>
          <p:cNvPr id="23" name="Shape 17"/>
          <p:cNvSpPr/>
          <p:nvPr/>
        </p:nvSpPr>
        <p:spPr>
          <a:xfrm>
            <a:off x="7269480" y="1673352"/>
            <a:ext cx="1417320" cy="292608"/>
          </a:xfrm>
          <a:prstGeom prst="roundRect">
            <a:avLst>
              <a:gd name="adj" fmla="val 50000"/>
            </a:avLst>
          </a:prstGeom>
          <a:solidFill>
            <a:srgbClr val="FFB020">
              <a:alpha val="20000"/>
            </a:srgbClr>
          </a:solidFill>
          <a:ln w="12700">
            <a:solidFill>
              <a:srgbClr val="FFB020"/>
            </a:solidFill>
            <a:prstDash val="solid"/>
          </a:ln>
        </p:spPr>
      </p:sp>
      <p:sp>
        <p:nvSpPr>
          <p:cNvPr id="24" name="Text 18"/>
          <p:cNvSpPr txBox="1"/>
          <p:nvPr/>
        </p:nvSpPr>
        <p:spPr>
          <a:xfrm>
            <a:off x="7269480" y="1673352"/>
            <a:ext cx="1417320" cy="292608"/>
          </a:xfrm>
          <a:prstGeom prst="rect">
            <a:avLst/>
          </a:prstGeom>
          <a:noFill/>
          <a:ln/>
        </p:spPr>
        <p:txBody>
          <a:bodyPr wrap="square" lIns="0" tIns="0" rIns="0" bIns="0" rtlCol="0" anchor="ctr"/>
          <a:lstStyle/>
          <a:p>
            <a:pPr algn="ctr" indent="0" marL="0">
              <a:buNone/>
            </a:pPr>
            <a:r>
              <a:rPr lang="en-US" sz="1000" b="1" dirty="0">
                <a:solidFill>
                  <a:srgbClr val="FFB020"/>
                </a:solidFill>
              </a:rPr>
              <a:t>STEP UP</a:t>
            </a:r>
            <a:endParaRPr lang="en-US" sz="1000" dirty="0"/>
          </a:p>
        </p:txBody>
      </p:sp>
      <p:sp>
        <p:nvSpPr>
          <p:cNvPr id="25" name="Shape 19"/>
          <p:cNvSpPr/>
          <p:nvPr/>
        </p:nvSpPr>
        <p:spPr>
          <a:xfrm>
            <a:off x="7269480" y="2020824"/>
            <a:ext cx="1417320" cy="292608"/>
          </a:xfrm>
          <a:prstGeom prst="roundRect">
            <a:avLst>
              <a:gd name="adj" fmla="val 50000"/>
            </a:avLst>
          </a:prstGeom>
          <a:solidFill>
            <a:srgbClr val="FF4D3D">
              <a:alpha val="20000"/>
            </a:srgbClr>
          </a:solidFill>
          <a:ln w="12700">
            <a:solidFill>
              <a:srgbClr val="FF4D3D"/>
            </a:solidFill>
            <a:prstDash val="solid"/>
          </a:ln>
        </p:spPr>
      </p:sp>
      <p:sp>
        <p:nvSpPr>
          <p:cNvPr id="26" name="Text 20"/>
          <p:cNvSpPr txBox="1"/>
          <p:nvPr/>
        </p:nvSpPr>
        <p:spPr>
          <a:xfrm>
            <a:off x="7269480" y="2020824"/>
            <a:ext cx="1417320" cy="292608"/>
          </a:xfrm>
          <a:prstGeom prst="rect">
            <a:avLst/>
          </a:prstGeom>
          <a:noFill/>
          <a:ln/>
        </p:spPr>
        <p:txBody>
          <a:bodyPr wrap="square" lIns="0" tIns="0" rIns="0" bIns="0" rtlCol="0" anchor="ctr"/>
          <a:lstStyle/>
          <a:p>
            <a:pPr algn="ctr" indent="0" marL="0">
              <a:buNone/>
            </a:pPr>
            <a:r>
              <a:rPr lang="en-US" sz="1000" b="1" dirty="0">
                <a:solidFill>
                  <a:srgbClr val="FF4D3D"/>
                </a:solidFill>
              </a:rPr>
              <a:t>BLOCK</a:t>
            </a:r>
            <a:endParaRPr lang="en-US" sz="1000" dirty="0"/>
          </a:p>
        </p:txBody>
      </p:sp>
      <p:pic>
        <p:nvPicPr>
          <p:cNvPr id="27" name="Image 4" descr="preencoded.png">    </p:cNvPr>
          <p:cNvPicPr>
            <a:picLocks noChangeAspect="1"/>
          </p:cNvPicPr>
          <p:nvPr/>
        </p:nvPicPr>
        <p:blipFill>
          <a:blip r:embed="rId5"/>
          <a:stretch>
            <a:fillRect/>
          </a:stretch>
        </p:blipFill>
        <p:spPr>
          <a:xfrm>
            <a:off x="7296912" y="2377440"/>
            <a:ext cx="182880" cy="182880"/>
          </a:xfrm>
          <a:prstGeom prst="rect">
            <a:avLst/>
          </a:prstGeom>
        </p:spPr>
      </p:pic>
      <p:sp>
        <p:nvSpPr>
          <p:cNvPr id="28" name="Text 21"/>
          <p:cNvSpPr txBox="1"/>
          <p:nvPr/>
        </p:nvSpPr>
        <p:spPr>
          <a:xfrm>
            <a:off x="7516368" y="2350008"/>
            <a:ext cx="1188720" cy="237744"/>
          </a:xfrm>
          <a:prstGeom prst="rect">
            <a:avLst/>
          </a:prstGeom>
          <a:noFill/>
          <a:ln/>
        </p:spPr>
        <p:txBody>
          <a:bodyPr wrap="square" lIns="0" tIns="0" rIns="0" bIns="0" rtlCol="0" anchor="ctr"/>
          <a:lstStyle/>
          <a:p>
            <a:pPr indent="0" marL="0">
              <a:buNone/>
            </a:pPr>
            <a:r>
              <a:rPr lang="en-US" sz="1000" dirty="0">
                <a:solidFill>
                  <a:srgbClr val="9AA3B2"/>
                </a:solidFill>
              </a:rPr>
              <a:t>+ alert real customer</a:t>
            </a:r>
            <a:endParaRPr lang="en-US" sz="1000" dirty="0"/>
          </a:p>
        </p:txBody>
      </p:sp>
      <p:sp>
        <p:nvSpPr>
          <p:cNvPr id="29" name="rule-0"/>
          <p:cNvSpPr/>
          <p:nvPr/>
        </p:nvSpPr>
        <p:spPr>
          <a:xfrm>
            <a:off x="457200" y="2788920"/>
            <a:ext cx="1965960" cy="914400"/>
          </a:xfrm>
          <a:prstGeom prst="roundRect">
            <a:avLst>
              <a:gd name="adj" fmla="val 8000"/>
            </a:avLst>
          </a:prstGeom>
          <a:solidFill>
            <a:srgbClr val="171A21"/>
          </a:solidFill>
          <a:ln w="12700">
            <a:solidFill>
              <a:srgbClr val="2A2F3A"/>
            </a:solidFill>
            <a:prstDash val="solid"/>
          </a:ln>
        </p:spPr>
      </p:sp>
      <p:sp>
        <p:nvSpPr>
          <p:cNvPr id="30" name="Text 23"/>
          <p:cNvSpPr txBox="1"/>
          <p:nvPr/>
        </p:nvSpPr>
        <p:spPr>
          <a:xfrm>
            <a:off x="566928" y="2834640"/>
            <a:ext cx="1783080" cy="822960"/>
          </a:xfrm>
          <a:prstGeom prst="rect">
            <a:avLst/>
          </a:prstGeom>
          <a:noFill/>
          <a:ln/>
        </p:spPr>
        <p:txBody>
          <a:bodyPr wrap="square" lIns="0" tIns="0" rIns="0" bIns="0" rtlCol="0" anchor="ctr"/>
          <a:lstStyle/>
          <a:p>
            <a:pPr indent="0" marL="0">
              <a:buNone/>
            </a:pPr>
            <a:r>
              <a:rPr lang="en-US" sz="1000" dirty="0">
                <a:solidFill>
                  <a:srgbClr val="9AA3B2"/>
                </a:solidFill>
              </a:rPr>
              <a:t>DetectifAI: voice = fake</a:t>
            </a:r>
            <a:endParaRPr lang="en-US" sz="1000" dirty="0"/>
          </a:p>
          <a:p>
            <a:pPr indent="0" marL="0">
              <a:buNone/>
            </a:pPr>
            <a:r>
              <a:rPr lang="en-US" sz="1500" b="1" dirty="0">
                <a:solidFill>
                  <a:srgbClr val="FF4D3D"/>
                </a:solidFill>
              </a:rPr>
              <a:t>BLOCK</a:t>
            </a:r>
            <a:endParaRPr lang="en-US" sz="1000" dirty="0"/>
          </a:p>
          <a:p>
            <a:pPr indent="0" marL="0">
              <a:buNone/>
            </a:pPr>
            <a:r>
              <a:rPr lang="en-US" sz="1000" dirty="0">
                <a:solidFill>
                  <a:srgbClr val="9AA3B2"/>
                </a:solidFill>
              </a:rPr>
              <a:t>AI clone / synthetic</a:t>
            </a:r>
            <a:endParaRPr lang="en-US" sz="1000" dirty="0"/>
          </a:p>
        </p:txBody>
      </p:sp>
      <p:sp>
        <p:nvSpPr>
          <p:cNvPr id="31" name="rule-1"/>
          <p:cNvSpPr/>
          <p:nvPr/>
        </p:nvSpPr>
        <p:spPr>
          <a:xfrm>
            <a:off x="2560320" y="2788920"/>
            <a:ext cx="1965960" cy="914400"/>
          </a:xfrm>
          <a:prstGeom prst="roundRect">
            <a:avLst>
              <a:gd name="adj" fmla="val 8000"/>
            </a:avLst>
          </a:prstGeom>
          <a:solidFill>
            <a:srgbClr val="171A21"/>
          </a:solidFill>
          <a:ln w="12700">
            <a:solidFill>
              <a:srgbClr val="2A2F3A"/>
            </a:solidFill>
            <a:prstDash val="solid"/>
          </a:ln>
        </p:spPr>
      </p:sp>
      <p:sp>
        <p:nvSpPr>
          <p:cNvPr id="32" name="Text 25"/>
          <p:cNvSpPr txBox="1"/>
          <p:nvPr/>
        </p:nvSpPr>
        <p:spPr>
          <a:xfrm>
            <a:off x="2670048" y="2834640"/>
            <a:ext cx="1783080" cy="822960"/>
          </a:xfrm>
          <a:prstGeom prst="rect">
            <a:avLst/>
          </a:prstGeom>
          <a:noFill/>
          <a:ln/>
        </p:spPr>
        <p:txBody>
          <a:bodyPr wrap="square" lIns="0" tIns="0" rIns="0" bIns="0" rtlCol="0" anchor="ctr"/>
          <a:lstStyle/>
          <a:p>
            <a:pPr indent="0" marL="0">
              <a:buNone/>
            </a:pPr>
            <a:r>
              <a:rPr lang="en-US" sz="1000" dirty="0">
                <a:solidFill>
                  <a:srgbClr val="9AA3B2"/>
                </a:solidFill>
              </a:rPr>
              <a:t>DetectifAI: speaker = no match</a:t>
            </a:r>
            <a:endParaRPr lang="en-US" sz="1000" dirty="0"/>
          </a:p>
          <a:p>
            <a:pPr indent="0" marL="0">
              <a:buNone/>
            </a:pPr>
            <a:r>
              <a:rPr lang="en-US" sz="1500" b="1" dirty="0">
                <a:solidFill>
                  <a:srgbClr val="FF4D3D"/>
                </a:solidFill>
              </a:rPr>
              <a:t>BLOCK / STEP UP</a:t>
            </a:r>
            <a:endParaRPr lang="en-US" sz="1000" dirty="0"/>
          </a:p>
          <a:p>
            <a:pPr indent="0" marL="0">
              <a:buNone/>
            </a:pPr>
            <a:r>
              <a:rPr lang="en-US" sz="1000" dirty="0">
                <a:solidFill>
                  <a:srgbClr val="9AA3B2"/>
                </a:solidFill>
              </a:rPr>
              <a:t>human impostor</a:t>
            </a:r>
            <a:endParaRPr lang="en-US" sz="1000" dirty="0"/>
          </a:p>
        </p:txBody>
      </p:sp>
      <p:sp>
        <p:nvSpPr>
          <p:cNvPr id="33" name="rule-2"/>
          <p:cNvSpPr/>
          <p:nvPr/>
        </p:nvSpPr>
        <p:spPr>
          <a:xfrm>
            <a:off x="4663440" y="2788920"/>
            <a:ext cx="1965960" cy="914400"/>
          </a:xfrm>
          <a:prstGeom prst="roundRect">
            <a:avLst>
              <a:gd name="adj" fmla="val 8000"/>
            </a:avLst>
          </a:prstGeom>
          <a:solidFill>
            <a:srgbClr val="171A21"/>
          </a:solidFill>
          <a:ln w="12700">
            <a:solidFill>
              <a:srgbClr val="2A2F3A"/>
            </a:solidFill>
            <a:prstDash val="solid"/>
          </a:ln>
        </p:spPr>
      </p:sp>
      <p:sp>
        <p:nvSpPr>
          <p:cNvPr id="34" name="Text 27"/>
          <p:cNvSpPr txBox="1"/>
          <p:nvPr/>
        </p:nvSpPr>
        <p:spPr>
          <a:xfrm>
            <a:off x="4773168" y="2834640"/>
            <a:ext cx="1783080" cy="822960"/>
          </a:xfrm>
          <a:prstGeom prst="rect">
            <a:avLst/>
          </a:prstGeom>
          <a:noFill/>
          <a:ln/>
        </p:spPr>
        <p:txBody>
          <a:bodyPr wrap="square" lIns="0" tIns="0" rIns="0" bIns="0" rtlCol="0" anchor="ctr"/>
          <a:lstStyle/>
          <a:p>
            <a:pPr indent="0" marL="0">
              <a:buNone/>
            </a:pPr>
            <a:r>
              <a:rPr lang="en-US" sz="1000" dirty="0">
                <a:solidFill>
                  <a:srgbClr val="9AA3B2"/>
                </a:solidFill>
              </a:rPr>
              <a:t>DetectifAI: not sure / not enrolled</a:t>
            </a:r>
            <a:endParaRPr lang="en-US" sz="1000" dirty="0"/>
          </a:p>
          <a:p>
            <a:pPr indent="0" marL="0">
              <a:buNone/>
            </a:pPr>
            <a:r>
              <a:rPr lang="en-US" sz="1500" b="1" dirty="0">
                <a:solidFill>
                  <a:srgbClr val="FFB020"/>
                </a:solidFill>
              </a:rPr>
              <a:t>STEP UP</a:t>
            </a:r>
            <a:endParaRPr lang="en-US" sz="1000" dirty="0"/>
          </a:p>
          <a:p>
            <a:pPr indent="0" marL="0">
              <a:buNone/>
            </a:pPr>
            <a:r>
              <a:rPr lang="en-US" sz="1000" dirty="0">
                <a:solidFill>
                  <a:srgbClr val="9AA3B2"/>
                </a:solidFill>
              </a:rPr>
              <a:t>extra check, no false block</a:t>
            </a:r>
            <a:endParaRPr lang="en-US" sz="1000" dirty="0"/>
          </a:p>
        </p:txBody>
      </p:sp>
      <p:sp>
        <p:nvSpPr>
          <p:cNvPr id="35" name="rule-3"/>
          <p:cNvSpPr/>
          <p:nvPr/>
        </p:nvSpPr>
        <p:spPr>
          <a:xfrm>
            <a:off x="6766560" y="2788920"/>
            <a:ext cx="1965960" cy="914400"/>
          </a:xfrm>
          <a:prstGeom prst="roundRect">
            <a:avLst>
              <a:gd name="adj" fmla="val 8000"/>
            </a:avLst>
          </a:prstGeom>
          <a:solidFill>
            <a:srgbClr val="171A21"/>
          </a:solidFill>
          <a:ln w="12700">
            <a:solidFill>
              <a:srgbClr val="2A2F3A"/>
            </a:solidFill>
            <a:prstDash val="solid"/>
          </a:ln>
        </p:spPr>
      </p:sp>
      <p:sp>
        <p:nvSpPr>
          <p:cNvPr id="36" name="Text 29"/>
          <p:cNvSpPr txBox="1"/>
          <p:nvPr/>
        </p:nvSpPr>
        <p:spPr>
          <a:xfrm>
            <a:off x="6876288" y="2834640"/>
            <a:ext cx="1783080" cy="822960"/>
          </a:xfrm>
          <a:prstGeom prst="rect">
            <a:avLst/>
          </a:prstGeom>
          <a:noFill/>
          <a:ln/>
        </p:spPr>
        <p:txBody>
          <a:bodyPr wrap="square" lIns="0" tIns="0" rIns="0" bIns="0" rtlCol="0" anchor="ctr"/>
          <a:lstStyle/>
          <a:p>
            <a:pPr indent="0" marL="0">
              <a:buNone/>
            </a:pPr>
            <a:r>
              <a:rPr lang="en-US" sz="1000" dirty="0">
                <a:solidFill>
                  <a:srgbClr val="9AA3B2"/>
                </a:solidFill>
              </a:rPr>
              <a:t>DetectifAI: real + match</a:t>
            </a:r>
            <a:endParaRPr lang="en-US" sz="1000" dirty="0"/>
          </a:p>
          <a:p>
            <a:pPr indent="0" marL="0">
              <a:buNone/>
            </a:pPr>
            <a:r>
              <a:rPr lang="en-US" sz="1500" b="1" dirty="0">
                <a:solidFill>
                  <a:srgbClr val="2ECC71"/>
                </a:solidFill>
              </a:rPr>
              <a:t>APPROVE</a:t>
            </a:r>
            <a:endParaRPr lang="en-US" sz="1000" dirty="0"/>
          </a:p>
          <a:p>
            <a:pPr indent="0" marL="0">
              <a:buNone/>
            </a:pPr>
            <a:r>
              <a:rPr lang="en-US" sz="1000" dirty="0">
                <a:solidFill>
                  <a:srgbClr val="9AA3B2"/>
                </a:solidFill>
              </a:rPr>
              <a:t>genuine customer</a:t>
            </a:r>
            <a:endParaRPr lang="en-US" sz="1000" dirty="0"/>
          </a:p>
        </p:txBody>
      </p:sp>
      <p:pic>
        <p:nvPicPr>
          <p:cNvPr id="37" name="Image 5" descr="preencoded.png">    </p:cNvPr>
          <p:cNvPicPr>
            <a:picLocks noChangeAspect="1"/>
          </p:cNvPicPr>
          <p:nvPr/>
        </p:nvPicPr>
        <p:blipFill>
          <a:blip r:embed="rId6"/>
          <a:stretch>
            <a:fillRect/>
          </a:stretch>
        </p:blipFill>
        <p:spPr>
          <a:xfrm>
            <a:off x="457200" y="3904488"/>
            <a:ext cx="274320" cy="274320"/>
          </a:xfrm>
          <a:prstGeom prst="rect">
            <a:avLst/>
          </a:prstGeom>
        </p:spPr>
      </p:pic>
      <p:sp>
        <p:nvSpPr>
          <p:cNvPr id="38" name="Text 30"/>
          <p:cNvSpPr txBox="1"/>
          <p:nvPr/>
        </p:nvSpPr>
        <p:spPr>
          <a:xfrm>
            <a:off x="841248" y="3813048"/>
            <a:ext cx="7863840" cy="457200"/>
          </a:xfrm>
          <a:prstGeom prst="rect">
            <a:avLst/>
          </a:prstGeom>
          <a:noFill/>
          <a:ln/>
        </p:spPr>
        <p:txBody>
          <a:bodyPr wrap="square" lIns="0" tIns="0" rIns="0" bIns="0" rtlCol="0" anchor="ctr"/>
          <a:lstStyle/>
          <a:p>
            <a:pPr indent="0" marL="0">
              <a:buNone/>
            </a:pPr>
            <a:r>
              <a:rPr lang="en-US" sz="1300" b="1" dirty="0">
                <a:solidFill>
                  <a:srgbClr val="D4FF2A"/>
                </a:solidFill>
              </a:rPr>
              <a:t>Why both: </a:t>
            </a:r>
            <a:pPr indent="0" marL="0">
              <a:buNone/>
            </a:pPr>
            <a:r>
              <a:rPr lang="en-US" sz="1300" dirty="0">
                <a:solidFill>
                  <a:srgbClr val="E8EAF0"/>
                </a:solidFill>
              </a:rPr>
              <a:t>our AI clone fooled the voiceprint (match 0.81 ≥ 0.53). Only deepfake detection caught it (0.998 fake) → BLOCK.</a:t>
            </a:r>
            <a:endParaRPr lang="en-US" sz="1300" dirty="0"/>
          </a:p>
        </p:txBody>
      </p:sp>
      <p:sp>
        <p:nvSpPr>
          <p:cNvPr id="39" name="Text 31"/>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000" dirty="0">
                <a:solidFill>
                  <a:srgbClr val="9AA3B2"/>
                </a:solidFill>
              </a:rPr>
              <a:t>Tools: DetectifAI Speaker Verification + Deepfake Detection APIs · Python / FastAPI · JavaScript + Web Audio API · Chrome Web Speech API · Chatterbox (open-source voice cloning, red-team tests)</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6858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04 · IMPACT · LIVE RESULTS FROM TODAY</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Clones and impostors blocked, customers approved</a:t>
            </a:r>
            <a:endParaRPr lang="en-US" sz="2400" dirty="0"/>
          </a:p>
        </p:txBody>
      </p:sp>
      <p:sp>
        <p:nvSpPr>
          <p:cNvPr id="4" name="stat-0"/>
          <p:cNvSpPr/>
          <p:nvPr/>
        </p:nvSpPr>
        <p:spPr>
          <a:xfrm>
            <a:off x="457200" y="1325880"/>
            <a:ext cx="2468880" cy="896112"/>
          </a:xfrm>
          <a:prstGeom prst="roundRect">
            <a:avLst>
              <a:gd name="adj" fmla="val 8163"/>
            </a:avLst>
          </a:prstGeom>
          <a:solidFill>
            <a:srgbClr val="171A21"/>
          </a:solidFill>
          <a:ln w="12700">
            <a:solidFill>
              <a:srgbClr val="2A2F3A"/>
            </a:solidFill>
            <a:prstDash val="solid"/>
          </a:ln>
        </p:spPr>
      </p:sp>
      <p:sp>
        <p:nvSpPr>
          <p:cNvPr id="5" name="Text 3"/>
          <p:cNvSpPr txBox="1"/>
          <p:nvPr/>
        </p:nvSpPr>
        <p:spPr>
          <a:xfrm>
            <a:off x="621792" y="1380744"/>
            <a:ext cx="2194560" cy="457200"/>
          </a:xfrm>
          <a:prstGeom prst="rect">
            <a:avLst/>
          </a:prstGeom>
          <a:noFill/>
          <a:ln/>
        </p:spPr>
        <p:txBody>
          <a:bodyPr wrap="square" lIns="0" tIns="0" rIns="0" bIns="0" rtlCol="0" anchor="ctr"/>
          <a:lstStyle/>
          <a:p>
            <a:pPr indent="0" marL="0">
              <a:buNone/>
            </a:pPr>
            <a:r>
              <a:rPr lang="en-US" sz="2800" b="1" dirty="0">
                <a:solidFill>
                  <a:srgbClr val="D4FF2A"/>
                </a:solidFill>
                <a:latin typeface="Arial" pitchFamily="34" charset="0"/>
                <a:ea typeface="Arial" pitchFamily="34" charset="-122"/>
                <a:cs typeface="Arial" pitchFamily="34" charset="-120"/>
              </a:rPr>
              <a:t>7 / 7</a:t>
            </a:r>
            <a:endParaRPr lang="en-US" sz="2800" dirty="0"/>
          </a:p>
        </p:txBody>
      </p:sp>
      <p:sp>
        <p:nvSpPr>
          <p:cNvPr id="6" name="Text 4"/>
          <p:cNvSpPr txBox="1"/>
          <p:nvPr/>
        </p:nvSpPr>
        <p:spPr>
          <a:xfrm>
            <a:off x="621792" y="1837944"/>
            <a:ext cx="2194560" cy="310896"/>
          </a:xfrm>
          <a:prstGeom prst="rect">
            <a:avLst/>
          </a:prstGeom>
          <a:noFill/>
          <a:ln/>
        </p:spPr>
        <p:txBody>
          <a:bodyPr wrap="square" lIns="0" tIns="0" rIns="0" bIns="0" rtlCol="0" anchor="ctr"/>
          <a:lstStyle/>
          <a:p>
            <a:pPr indent="0" marL="0">
              <a:buNone/>
            </a:pPr>
            <a:r>
              <a:rPr lang="en-US" sz="1100" dirty="0">
                <a:solidFill>
                  <a:srgbClr val="9AA3B2"/>
                </a:solidFill>
              </a:rPr>
              <a:t>live checks decided correctly</a:t>
            </a:r>
            <a:endParaRPr lang="en-US" sz="1100" dirty="0"/>
          </a:p>
        </p:txBody>
      </p:sp>
      <p:sp>
        <p:nvSpPr>
          <p:cNvPr id="7" name="stat-1"/>
          <p:cNvSpPr/>
          <p:nvPr/>
        </p:nvSpPr>
        <p:spPr>
          <a:xfrm>
            <a:off x="457200" y="2350008"/>
            <a:ext cx="2468880" cy="896112"/>
          </a:xfrm>
          <a:prstGeom prst="roundRect">
            <a:avLst>
              <a:gd name="adj" fmla="val 8163"/>
            </a:avLst>
          </a:prstGeom>
          <a:solidFill>
            <a:srgbClr val="171A21"/>
          </a:solidFill>
          <a:ln w="12700">
            <a:solidFill>
              <a:srgbClr val="2A2F3A"/>
            </a:solidFill>
            <a:prstDash val="solid"/>
          </a:ln>
        </p:spPr>
      </p:sp>
      <p:sp>
        <p:nvSpPr>
          <p:cNvPr id="8" name="Text 6"/>
          <p:cNvSpPr txBox="1"/>
          <p:nvPr/>
        </p:nvSpPr>
        <p:spPr>
          <a:xfrm>
            <a:off x="621792" y="2404872"/>
            <a:ext cx="2194560" cy="457200"/>
          </a:xfrm>
          <a:prstGeom prst="rect">
            <a:avLst/>
          </a:prstGeom>
          <a:noFill/>
          <a:ln/>
        </p:spPr>
        <p:txBody>
          <a:bodyPr wrap="square" lIns="0" tIns="0" rIns="0" bIns="0" rtlCol="0" anchor="ctr"/>
          <a:lstStyle/>
          <a:p>
            <a:pPr indent="0" marL="0">
              <a:buNone/>
            </a:pPr>
            <a:r>
              <a:rPr lang="en-US" sz="2800" b="1" dirty="0">
                <a:solidFill>
                  <a:srgbClr val="E8EAF0"/>
                </a:solidFill>
                <a:latin typeface="Arial" pitchFamily="34" charset="0"/>
                <a:ea typeface="Arial" pitchFamily="34" charset="-122"/>
                <a:cs typeface="Arial" pitchFamily="34" charset="-120"/>
              </a:rPr>
              <a:t>~3 s</a:t>
            </a:r>
            <a:endParaRPr lang="en-US" sz="2800" dirty="0"/>
          </a:p>
        </p:txBody>
      </p:sp>
      <p:sp>
        <p:nvSpPr>
          <p:cNvPr id="9" name="Text 7"/>
          <p:cNvSpPr txBox="1"/>
          <p:nvPr/>
        </p:nvSpPr>
        <p:spPr>
          <a:xfrm>
            <a:off x="621792" y="2862072"/>
            <a:ext cx="2194560" cy="310896"/>
          </a:xfrm>
          <a:prstGeom prst="rect">
            <a:avLst/>
          </a:prstGeom>
          <a:noFill/>
          <a:ln/>
        </p:spPr>
        <p:txBody>
          <a:bodyPr wrap="square" lIns="0" tIns="0" rIns="0" bIns="0" rtlCol="0" anchor="ctr"/>
          <a:lstStyle/>
          <a:p>
            <a:pPr indent="0" marL="0">
              <a:buNone/>
            </a:pPr>
            <a:r>
              <a:rPr lang="en-US" sz="1100" dirty="0">
                <a:solidFill>
                  <a:srgbClr val="9AA3B2"/>
                </a:solidFill>
              </a:rPr>
              <a:t>from risky request to decision</a:t>
            </a:r>
            <a:endParaRPr lang="en-US" sz="1100" dirty="0"/>
          </a:p>
        </p:txBody>
      </p:sp>
      <p:sp>
        <p:nvSpPr>
          <p:cNvPr id="10" name="stat-2"/>
          <p:cNvSpPr/>
          <p:nvPr/>
        </p:nvSpPr>
        <p:spPr>
          <a:xfrm>
            <a:off x="457200" y="3374136"/>
            <a:ext cx="2468880" cy="896112"/>
          </a:xfrm>
          <a:prstGeom prst="roundRect">
            <a:avLst>
              <a:gd name="adj" fmla="val 8163"/>
            </a:avLst>
          </a:prstGeom>
          <a:solidFill>
            <a:srgbClr val="171A21"/>
          </a:solidFill>
          <a:ln w="12700">
            <a:solidFill>
              <a:srgbClr val="2A2F3A"/>
            </a:solidFill>
            <a:prstDash val="solid"/>
          </a:ln>
        </p:spPr>
      </p:sp>
      <p:sp>
        <p:nvSpPr>
          <p:cNvPr id="11" name="Text 9"/>
          <p:cNvSpPr txBox="1"/>
          <p:nvPr/>
        </p:nvSpPr>
        <p:spPr>
          <a:xfrm>
            <a:off x="621792" y="3429000"/>
            <a:ext cx="2194560" cy="457200"/>
          </a:xfrm>
          <a:prstGeom prst="rect">
            <a:avLst/>
          </a:prstGeom>
          <a:noFill/>
          <a:ln/>
        </p:spPr>
        <p:txBody>
          <a:bodyPr wrap="square" lIns="0" tIns="0" rIns="0" bIns="0" rtlCol="0" anchor="ctr"/>
          <a:lstStyle/>
          <a:p>
            <a:pPr indent="0" marL="0">
              <a:buNone/>
            </a:pPr>
            <a:r>
              <a:rPr lang="en-US" sz="2800" b="1" dirty="0">
                <a:solidFill>
                  <a:srgbClr val="2ECC71"/>
                </a:solidFill>
                <a:latin typeface="Arial" pitchFamily="34" charset="0"/>
                <a:ea typeface="Arial" pitchFamily="34" charset="-122"/>
                <a:cs typeface="Arial" pitchFamily="34" charset="-120"/>
              </a:rPr>
              <a:t>2 / 2</a:t>
            </a:r>
            <a:endParaRPr lang="en-US" sz="2800" dirty="0"/>
          </a:p>
        </p:txBody>
      </p:sp>
      <p:sp>
        <p:nvSpPr>
          <p:cNvPr id="12" name="Text 10"/>
          <p:cNvSpPr txBox="1"/>
          <p:nvPr/>
        </p:nvSpPr>
        <p:spPr>
          <a:xfrm>
            <a:off x="621792" y="3886200"/>
            <a:ext cx="2194560" cy="310896"/>
          </a:xfrm>
          <a:prstGeom prst="rect">
            <a:avLst/>
          </a:prstGeom>
          <a:noFill/>
          <a:ln/>
        </p:spPr>
        <p:txBody>
          <a:bodyPr wrap="square" lIns="0" tIns="0" rIns="0" bIns="0" rtlCol="0" anchor="ctr"/>
          <a:lstStyle/>
          <a:p>
            <a:pPr indent="0" marL="0">
              <a:buNone/>
            </a:pPr>
            <a:r>
              <a:rPr lang="en-US" sz="1100" dirty="0">
                <a:solidFill>
                  <a:srgbClr val="9AA3B2"/>
                </a:solidFill>
              </a:rPr>
              <a:t>genuine callers approved, no false blocks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0" y="1325880"/>
          <a:ext cx="5486400" cy="914400"/>
        </p:xfrm>
        <a:graphic>
          <a:graphicData uri="http://schemas.openxmlformats.org/drawingml/2006/table">
            <a:tbl>
              <a:tblPr/>
              <a:tblGrid>
                <a:gridCol w="1920240"/>
                <a:gridCol w="1783080"/>
                <a:gridCol w="1783080"/>
              </a:tblGrid>
              <a:tr h="384048">
                <a:tc>
                  <a:txBody>
                    <a:bodyPr/>
                    <a:lstStyle/>
                    <a:p>
                      <a:pPr indent="0" marL="0">
                        <a:buNone/>
                      </a:pPr>
                      <a:r>
                        <a:rPr lang="en-US" sz="1000" b="1" dirty="0">
                          <a:solidFill>
                            <a:srgbClr val="9AA3B2"/>
                          </a:solidFill>
                          <a:latin typeface="Calibri" pitchFamily="34" charset="0"/>
                          <a:ea typeface="Calibri" pitchFamily="34" charset="-122"/>
                          <a:cs typeface="Calibri" pitchFamily="34" charset="-120"/>
                        </a:rPr>
                        <a:t>WHO CALLED</a:t>
                      </a:r>
                      <a:endParaRPr lang="en-US" sz="10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171A21"/>
                    </a:solidFill>
                  </a:tcPr>
                </a:tc>
                <a:tc>
                  <a:txBody>
                    <a:bodyPr/>
                    <a:lstStyle/>
                    <a:p>
                      <a:pPr indent="0" marL="0">
                        <a:buNone/>
                      </a:pPr>
                      <a:r>
                        <a:rPr lang="en-US" sz="1000" b="1" dirty="0">
                          <a:solidFill>
                            <a:srgbClr val="9AA3B2"/>
                          </a:solidFill>
                          <a:latin typeface="Calibri" pitchFamily="34" charset="0"/>
                          <a:ea typeface="Calibri" pitchFamily="34" charset="-122"/>
                          <a:cs typeface="Calibri" pitchFamily="34" charset="-120"/>
                        </a:rPr>
                        <a:t>DETECTIFAI SAID</a:t>
                      </a:r>
                      <a:endParaRPr lang="en-US" sz="10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171A21"/>
                    </a:solidFill>
                  </a:tcPr>
                </a:tc>
                <a:tc>
                  <a:txBody>
                    <a:bodyPr/>
                    <a:lstStyle/>
                    <a:p>
                      <a:pPr indent="0" marL="0">
                        <a:buNone/>
                      </a:pPr>
                      <a:r>
                        <a:rPr lang="en-US" sz="1000" b="1" dirty="0">
                          <a:solidFill>
                            <a:srgbClr val="9AA3B2"/>
                          </a:solidFill>
                          <a:latin typeface="Calibri" pitchFamily="34" charset="0"/>
                          <a:ea typeface="Calibri" pitchFamily="34" charset="-122"/>
                          <a:cs typeface="Calibri" pitchFamily="34" charset="-120"/>
                        </a:rPr>
                        <a:t>CALLSHIELD DID</a:t>
                      </a:r>
                      <a:endParaRPr lang="en-US" sz="10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171A21"/>
                    </a:solidFill>
                  </a:tcPr>
                </a:tc>
              </a:tr>
              <a:tr h="384048">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Genuine customer (live mic)</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real 0.004 · match 0.70</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b="1" dirty="0">
                          <a:solidFill>
                            <a:srgbClr val="2ECC71"/>
                          </a:solidFill>
                          <a:latin typeface="Calibri" pitchFamily="34" charset="0"/>
                          <a:ea typeface="Calibri" pitchFamily="34" charset="-122"/>
                          <a:cs typeface="Calibri" pitchFamily="34" charset="-120"/>
                        </a:rPr>
                        <a:t>APPROVE</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r>
              <a:tr h="384048">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Human impostor (live mic)</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real 0.01 · no match 0.30</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b="1" dirty="0">
                          <a:solidFill>
                            <a:srgbClr val="FF4D3D"/>
                          </a:solidFill>
                          <a:latin typeface="Calibri" pitchFamily="34" charset="0"/>
                          <a:ea typeface="Calibri" pitchFamily="34" charset="-122"/>
                          <a:cs typeface="Calibri" pitchFamily="34" charset="-120"/>
                        </a:rPr>
                        <a:t>BLOCK · customer tapped “Not me”</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r>
              <a:tr h="384048">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AI clone of the customer</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fake 0.998 · match 0.81 (fooled)</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b="1" dirty="0">
                          <a:solidFill>
                            <a:srgbClr val="FF4D3D"/>
                          </a:solidFill>
                          <a:latin typeface="Calibri" pitchFamily="34" charset="0"/>
                          <a:ea typeface="Calibri" pitchFamily="34" charset="-122"/>
                          <a:cs typeface="Calibri" pitchFamily="34" charset="-120"/>
                        </a:rPr>
                        <a:t>BLOCK</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r>
              <a:tr h="384048">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Unknown caller</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dirty="0">
                          <a:solidFill>
                            <a:srgbClr val="E8EAF0"/>
                          </a:solidFill>
                          <a:latin typeface="Calibri" pitchFamily="34" charset="0"/>
                          <a:ea typeface="Calibri" pitchFamily="34" charset="-122"/>
                          <a:cs typeface="Calibri" pitchFamily="34" charset="-120"/>
                        </a:rPr>
                        <a:t>real 0.02 · not enrolled</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c>
                  <a:txBody>
                    <a:bodyPr/>
                    <a:lstStyle/>
                    <a:p>
                      <a:pPr indent="0" marL="0">
                        <a:buNone/>
                      </a:pPr>
                      <a:r>
                        <a:rPr lang="en-US" sz="1200" b="1" dirty="0">
                          <a:solidFill>
                            <a:srgbClr val="FFB020"/>
                          </a:solidFill>
                          <a:latin typeface="Calibri" pitchFamily="34" charset="0"/>
                          <a:ea typeface="Calibri" pitchFamily="34" charset="-122"/>
                          <a:cs typeface="Calibri" pitchFamily="34" charset="-120"/>
                        </a:rPr>
                        <a:t>STEP UP</a:t>
                      </a:r>
                      <a:endParaRPr lang="en-US" sz="1200" dirty="0">
                        <a:latin typeface="Calibri" charset="0"/>
                        <a:ea typeface="Calibri" charset="0"/>
                        <a:cs typeface="Calibri" charset="0"/>
                      </a:endParaRPr>
                    </a:p>
                  </a:txBody>
                  <a:tcPr marL="54864" marR="54864" marT="54864" marB="54864" anchor="ctr">
                    <a:lnL w="9525" cap="flat" cmpd="sng" algn="ctr">
                      <a:solidFill>
                        <a:srgbClr val="2A2F3A"/>
                      </a:solidFill>
                      <a:prstDash val="solid"/>
                      <a:round/>
                      <a:headEnd type="none" w="med" len="med"/>
                      <a:tailEnd type="none" w="med" len="med"/>
                    </a:lnL>
                    <a:lnR w="9525" cap="flat" cmpd="sng" algn="ctr">
                      <a:solidFill>
                        <a:srgbClr val="2A2F3A"/>
                      </a:solidFill>
                      <a:prstDash val="solid"/>
                      <a:round/>
                      <a:headEnd type="none" w="med" len="med"/>
                      <a:tailEnd type="none" w="med" len="med"/>
                    </a:lnR>
                    <a:lnT w="9525" cap="flat" cmpd="sng" algn="ctr">
                      <a:solidFill>
                        <a:srgbClr val="2A2F3A"/>
                      </a:solidFill>
                      <a:prstDash val="solid"/>
                      <a:round/>
                      <a:headEnd type="none" w="med" len="med"/>
                      <a:tailEnd type="none" w="med" len="med"/>
                    </a:lnT>
                    <a:lnB w="9525" cap="flat" cmpd="sng" algn="ctr">
                      <a:solidFill>
                        <a:srgbClr val="2A2F3A"/>
                      </a:solidFill>
                      <a:prstDash val="solid"/>
                      <a:round/>
                      <a:headEnd type="none" w="med" len="med"/>
                      <a:tailEnd type="none" w="med" len="med"/>
                    </a:lnB>
                    <a:solidFill>
                      <a:srgbClr val="0F1115"/>
                    </a:solidFill>
                  </a:tcPr>
                </a:tc>
              </a:tr>
            </a:tbl>
          </a:graphicData>
        </a:graphic>
      </p:graphicFrame>
      <p:sp>
        <p:nvSpPr>
          <p:cNvPr id="14" name="Text 11"/>
          <p:cNvSpPr txBox="1"/>
          <p:nvPr/>
        </p:nvSpPr>
        <p:spPr>
          <a:xfrm>
            <a:off x="3200400" y="3520440"/>
            <a:ext cx="5486400" cy="731520"/>
          </a:xfrm>
          <a:prstGeom prst="rect">
            <a:avLst/>
          </a:prstGeom>
          <a:noFill/>
          <a:ln/>
        </p:spPr>
        <p:txBody>
          <a:bodyPr wrap="square" lIns="0" tIns="0" rIns="0" bIns="0" rtlCol="0" anchor="t"/>
          <a:lstStyle/>
          <a:p>
            <a:pPr indent="0" marL="0">
              <a:buNone/>
            </a:pPr>
            <a:r>
              <a:rPr lang="en-US" sz="1200" b="1" dirty="0">
                <a:solidFill>
                  <a:srgbClr val="E8EAF0"/>
                </a:solidFill>
              </a:rPr>
              <a:t>Customer </a:t>
            </a:r>
            <a:pPr indent="0" marL="0">
              <a:buNone/>
            </a:pPr>
            <a:r>
              <a:rPr lang="en-US" sz="1200" dirty="0">
                <a:solidFill>
                  <a:srgbClr val="9AA3B2"/>
                </a:solidFill>
              </a:rPr>
              <a:t>keeps money + SIM, alerted in seconds   ·   </a:t>
            </a:r>
            <a:pPr indent="0" marL="0">
              <a:buNone/>
            </a:pPr>
            <a:r>
              <a:rPr lang="en-US" sz="1200" b="1" dirty="0">
                <a:solidFill>
                  <a:srgbClr val="E8EAF0"/>
                </a:solidFill>
              </a:rPr>
              <a:t>Agent </a:t>
            </a:r>
            <a:pPr indent="0" marL="0">
              <a:buNone/>
            </a:pPr>
            <a:r>
              <a:rPr lang="en-US" sz="1200" dirty="0">
                <a:solidFill>
                  <a:srgbClr val="9AA3B2"/>
                </a:solidFill>
              </a:rPr>
              <a:t>gets a decision with reasons, not a guess   ·   </a:t>
            </a:r>
            <a:pPr indent="0" marL="0">
              <a:buNone/>
            </a:pPr>
            <a:r>
              <a:rPr lang="en-US" sz="1200" b="1" dirty="0">
                <a:solidFill>
                  <a:srgbClr val="E8EAF0"/>
                </a:solidFill>
              </a:rPr>
              <a:t>Bank </a:t>
            </a:r>
            <a:pPr indent="0" marL="0">
              <a:buNone/>
            </a:pPr>
            <a:r>
              <a:rPr lang="en-US" sz="1200" dirty="0">
                <a:solidFill>
                  <a:srgbClr val="9AA3B2"/>
                </a:solidFill>
              </a:rPr>
              <a:t>logs every decision with DetectifAI request IDs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28600"/>
            <a:ext cx="6858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05 · SCALE + WHAT WE BUILT</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Pay per protected transaction, not per minute</a:t>
            </a:r>
            <a:endParaRPr lang="en-US" sz="2400" dirty="0"/>
          </a:p>
        </p:txBody>
      </p:sp>
      <p:graphicFrame>
        <p:nvGraphicFramePr>
          <p:cNvPr id="4" name="Chart 0" descr=""/>
          <p:cNvGraphicFramePr/>
          <p:nvPr/>
        </p:nvGraphicFramePr>
        <p:xfrm>
          <a:off x="457200" y="1234440"/>
          <a:ext cx="4023360" cy="1783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3063240"/>
            <a:ext cx="4023360" cy="274320"/>
          </a:xfrm>
          <a:prstGeom prst="rect">
            <a:avLst/>
          </a:prstGeom>
          <a:noFill/>
          <a:ln/>
        </p:spPr>
        <p:txBody>
          <a:bodyPr wrap="square" lIns="0" tIns="0" rIns="0" bIns="0" rtlCol="0" anchor="ctr"/>
          <a:lstStyle/>
          <a:p>
            <a:pPr indent="0" marL="0">
              <a:buNone/>
            </a:pPr>
            <a:r>
              <a:rPr lang="en-US" sz="1000" dirty="0">
                <a:solidFill>
                  <a:srgbClr val="9AA3B2"/>
                </a:solidFill>
              </a:rPr>
              <a:t>1 lakh calls/day · 5-min calls · 1 in 10 has a risky request → ~75× fewer API calls.</a:t>
            </a:r>
            <a:endParaRPr lang="en-US" sz="1000" dirty="0"/>
          </a:p>
        </p:txBody>
      </p:sp>
      <p:sp>
        <p:nvSpPr>
          <p:cNvPr id="6" name="integration"/>
          <p:cNvSpPr/>
          <p:nvPr/>
        </p:nvSpPr>
        <p:spPr>
          <a:xfrm>
            <a:off x="457200" y="3474720"/>
            <a:ext cx="4023360" cy="960120"/>
          </a:xfrm>
          <a:prstGeom prst="roundRect">
            <a:avLst>
              <a:gd name="adj" fmla="val 7619"/>
            </a:avLst>
          </a:prstGeom>
          <a:solidFill>
            <a:srgbClr val="171A21"/>
          </a:solidFill>
          <a:ln w="12700">
            <a:solidFill>
              <a:srgbClr val="2A2F3A"/>
            </a:solidFill>
            <a:prstDash val="solid"/>
          </a:ln>
        </p:spPr>
      </p:sp>
      <p:pic>
        <p:nvPicPr>
          <p:cNvPr id="7" name="Image 0" descr="preencoded.png">    </p:cNvPr>
          <p:cNvPicPr>
            <a:picLocks noChangeAspect="1"/>
          </p:cNvPicPr>
          <p:nvPr/>
        </p:nvPicPr>
        <p:blipFill>
          <a:blip r:embed="rId2"/>
          <a:stretch>
            <a:fillRect/>
          </a:stretch>
        </p:blipFill>
        <p:spPr>
          <a:xfrm>
            <a:off x="621792" y="3639312"/>
            <a:ext cx="292608" cy="292608"/>
          </a:xfrm>
          <a:prstGeom prst="rect">
            <a:avLst/>
          </a:prstGeom>
        </p:spPr>
      </p:pic>
      <p:sp>
        <p:nvSpPr>
          <p:cNvPr id="8" name="Text 4"/>
          <p:cNvSpPr txBox="1"/>
          <p:nvPr/>
        </p:nvSpPr>
        <p:spPr>
          <a:xfrm>
            <a:off x="1024128" y="3547872"/>
            <a:ext cx="3383280" cy="822960"/>
          </a:xfrm>
          <a:prstGeom prst="rect">
            <a:avLst/>
          </a:prstGeom>
          <a:noFill/>
          <a:ln/>
        </p:spPr>
        <p:txBody>
          <a:bodyPr wrap="square" lIns="0" tIns="0" rIns="0" bIns="0" rtlCol="0" anchor="ctr"/>
          <a:lstStyle/>
          <a:p>
            <a:pPr indent="0" marL="0">
              <a:buNone/>
            </a:pPr>
            <a:r>
              <a:rPr lang="en-US" sz="1100" b="1" dirty="0">
                <a:solidFill>
                  <a:srgbClr val="E8EAF0"/>
                </a:solidFill>
              </a:rPr>
              <a:t>Plugs into the bank's existing contact centre</a:t>
            </a:r>
            <a:endParaRPr lang="en-US" sz="1100" dirty="0"/>
          </a:p>
          <a:p>
            <a:pPr indent="0" marL="0">
              <a:buNone/>
            </a:pPr>
            <a:r>
              <a:rPr lang="en-US" sz="1100" dirty="0">
                <a:solidFill>
                  <a:srgbClr val="9AA3B2"/>
                </a:solidFill>
              </a:rPr>
              <a:t>Exotel · Twilio · Genesys audio streams feed the same check. Same engine for UPI apps, NBFC, card and insurance helplines.</a:t>
            </a:r>
            <a:endParaRPr lang="en-US" sz="1100" dirty="0"/>
          </a:p>
        </p:txBody>
      </p:sp>
      <p:sp>
        <p:nvSpPr>
          <p:cNvPr id="9" name="prototype"/>
          <p:cNvSpPr/>
          <p:nvPr/>
        </p:nvSpPr>
        <p:spPr>
          <a:xfrm>
            <a:off x="4754880" y="1234440"/>
            <a:ext cx="3931920" cy="3200400"/>
          </a:xfrm>
          <a:prstGeom prst="roundRect">
            <a:avLst>
              <a:gd name="adj" fmla="val 2286"/>
            </a:avLst>
          </a:prstGeom>
          <a:solidFill>
            <a:srgbClr val="171A21"/>
          </a:solidFill>
          <a:ln w="12700">
            <a:solidFill>
              <a:srgbClr val="2A2F3A"/>
            </a:solidFill>
            <a:prstDash val="solid"/>
          </a:ln>
        </p:spPr>
      </p:sp>
      <p:sp>
        <p:nvSpPr>
          <p:cNvPr id="10" name="Text 6"/>
          <p:cNvSpPr txBox="1"/>
          <p:nvPr/>
        </p:nvSpPr>
        <p:spPr>
          <a:xfrm>
            <a:off x="4937760" y="1325880"/>
            <a:ext cx="3611880" cy="292608"/>
          </a:xfrm>
          <a:prstGeom prst="rect">
            <a:avLst/>
          </a:prstGeom>
          <a:noFill/>
          <a:ln/>
        </p:spPr>
        <p:txBody>
          <a:bodyPr wrap="square" lIns="0" tIns="0" rIns="0" bIns="0" rtlCol="0" anchor="ctr"/>
          <a:lstStyle/>
          <a:p>
            <a:pPr indent="0" marL="0">
              <a:buNone/>
            </a:pPr>
            <a:r>
              <a:rPr lang="en-US" sz="1100" b="1" spc="100" kern="0" dirty="0">
                <a:solidFill>
                  <a:srgbClr val="D4FF2A"/>
                </a:solidFill>
              </a:rPr>
              <a:t>PROTOTYPE BUILT TODAY · working end to end</a:t>
            </a:r>
            <a:endParaRPr lang="en-US" sz="1100" dirty="0"/>
          </a:p>
        </p:txBody>
      </p:sp>
      <p:sp>
        <p:nvSpPr>
          <p:cNvPr id="11" name="Text 7"/>
          <p:cNvSpPr txBox="1"/>
          <p:nvPr/>
        </p:nvSpPr>
        <p:spPr>
          <a:xfrm>
            <a:off x="4937760" y="1691640"/>
            <a:ext cx="228600" cy="292608"/>
          </a:xfrm>
          <a:prstGeom prst="rect">
            <a:avLst/>
          </a:prstGeom>
          <a:noFill/>
          <a:ln/>
        </p:spPr>
        <p:txBody>
          <a:bodyPr wrap="square" lIns="0" tIns="0" rIns="0" bIns="0" rtlCol="0" anchor="ctr"/>
          <a:lstStyle/>
          <a:p>
            <a:pPr indent="0" marL="0">
              <a:buNone/>
            </a:pPr>
            <a:r>
              <a:rPr lang="en-US" sz="1200" b="1" dirty="0">
                <a:solidFill>
                  <a:srgbClr val="2ECC71"/>
                </a:solidFill>
              </a:rPr>
              <a:t>✓</a:t>
            </a:r>
            <a:endParaRPr lang="en-US" sz="1200" dirty="0"/>
          </a:p>
        </p:txBody>
      </p:sp>
      <p:sp>
        <p:nvSpPr>
          <p:cNvPr id="12" name="Text 8"/>
          <p:cNvSpPr txBox="1"/>
          <p:nvPr/>
        </p:nvSpPr>
        <p:spPr>
          <a:xfrm>
            <a:off x="5212080" y="1691640"/>
            <a:ext cx="3337560" cy="292608"/>
          </a:xfrm>
          <a:prstGeom prst="rect">
            <a:avLst/>
          </a:prstGeom>
          <a:noFill/>
          <a:ln/>
        </p:spPr>
        <p:txBody>
          <a:bodyPr wrap="square" lIns="0" tIns="0" rIns="0" bIns="0" rtlCol="0" anchor="ctr"/>
          <a:lstStyle/>
          <a:p>
            <a:pPr indent="0" marL="0">
              <a:buNone/>
            </a:pPr>
            <a:r>
              <a:rPr lang="en-US" sz="1100" dirty="0">
                <a:solidFill>
                  <a:srgbClr val="E8EAF0"/>
                </a:solidFill>
              </a:rPr>
              <a:t>Live-call agent console + voice enrollment</a:t>
            </a:r>
            <a:endParaRPr lang="en-US" sz="1100" dirty="0"/>
          </a:p>
        </p:txBody>
      </p:sp>
      <p:sp>
        <p:nvSpPr>
          <p:cNvPr id="13" name="Text 9"/>
          <p:cNvSpPr txBox="1"/>
          <p:nvPr/>
        </p:nvSpPr>
        <p:spPr>
          <a:xfrm>
            <a:off x="4937760" y="2020824"/>
            <a:ext cx="228600" cy="292608"/>
          </a:xfrm>
          <a:prstGeom prst="rect">
            <a:avLst/>
          </a:prstGeom>
          <a:noFill/>
          <a:ln/>
        </p:spPr>
        <p:txBody>
          <a:bodyPr wrap="square" lIns="0" tIns="0" rIns="0" bIns="0" rtlCol="0" anchor="ctr"/>
          <a:lstStyle/>
          <a:p>
            <a:pPr indent="0" marL="0">
              <a:buNone/>
            </a:pPr>
            <a:r>
              <a:rPr lang="en-US" sz="1200" b="1" dirty="0">
                <a:solidFill>
                  <a:srgbClr val="2ECC71"/>
                </a:solidFill>
              </a:rPr>
              <a:t>✓</a:t>
            </a:r>
            <a:endParaRPr lang="en-US" sz="1200" dirty="0"/>
          </a:p>
        </p:txBody>
      </p:sp>
      <p:sp>
        <p:nvSpPr>
          <p:cNvPr id="14" name="Text 10"/>
          <p:cNvSpPr txBox="1"/>
          <p:nvPr/>
        </p:nvSpPr>
        <p:spPr>
          <a:xfrm>
            <a:off x="5212080" y="2020824"/>
            <a:ext cx="3337560" cy="292608"/>
          </a:xfrm>
          <a:prstGeom prst="rect">
            <a:avLst/>
          </a:prstGeom>
          <a:noFill/>
          <a:ln/>
        </p:spPr>
        <p:txBody>
          <a:bodyPr wrap="square" lIns="0" tIns="0" rIns="0" bIns="0" rtlCol="0" anchor="ctr"/>
          <a:lstStyle/>
          <a:p>
            <a:pPr indent="0" marL="0">
              <a:buNone/>
            </a:pPr>
            <a:r>
              <a:rPr lang="en-US" sz="1100" dirty="0">
                <a:solidFill>
                  <a:srgbClr val="E8EAF0"/>
                </a:solidFill>
              </a:rPr>
              <a:t>Both DetectifAI APIs → risk engine → decision</a:t>
            </a:r>
            <a:endParaRPr lang="en-US" sz="1100" dirty="0"/>
          </a:p>
        </p:txBody>
      </p:sp>
      <p:sp>
        <p:nvSpPr>
          <p:cNvPr id="15" name="Text 11"/>
          <p:cNvSpPr txBox="1"/>
          <p:nvPr/>
        </p:nvSpPr>
        <p:spPr>
          <a:xfrm>
            <a:off x="4937760" y="2350008"/>
            <a:ext cx="228600" cy="292608"/>
          </a:xfrm>
          <a:prstGeom prst="rect">
            <a:avLst/>
          </a:prstGeom>
          <a:noFill/>
          <a:ln/>
        </p:spPr>
        <p:txBody>
          <a:bodyPr wrap="square" lIns="0" tIns="0" rIns="0" bIns="0" rtlCol="0" anchor="ctr"/>
          <a:lstStyle/>
          <a:p>
            <a:pPr indent="0" marL="0">
              <a:buNone/>
            </a:pPr>
            <a:r>
              <a:rPr lang="en-US" sz="1200" b="1" dirty="0">
                <a:solidFill>
                  <a:srgbClr val="2ECC71"/>
                </a:solidFill>
              </a:rPr>
              <a:t>✓</a:t>
            </a:r>
            <a:endParaRPr lang="en-US" sz="1200" dirty="0"/>
          </a:p>
        </p:txBody>
      </p:sp>
      <p:sp>
        <p:nvSpPr>
          <p:cNvPr id="16" name="Text 12"/>
          <p:cNvSpPr txBox="1"/>
          <p:nvPr/>
        </p:nvSpPr>
        <p:spPr>
          <a:xfrm>
            <a:off x="5212080" y="2350008"/>
            <a:ext cx="3337560" cy="292608"/>
          </a:xfrm>
          <a:prstGeom prst="rect">
            <a:avLst/>
          </a:prstGeom>
          <a:noFill/>
          <a:ln/>
        </p:spPr>
        <p:txBody>
          <a:bodyPr wrap="square" lIns="0" tIns="0" rIns="0" bIns="0" rtlCol="0" anchor="ctr"/>
          <a:lstStyle/>
          <a:p>
            <a:pPr indent="0" marL="0">
              <a:buNone/>
            </a:pPr>
            <a:r>
              <a:rPr lang="en-US" sz="1100" dirty="0">
                <a:solidFill>
                  <a:srgbClr val="E8EAF0"/>
                </a:solidFill>
              </a:rPr>
              <a:t>Customer phone alerts with “Not me” reply</a:t>
            </a:r>
            <a:endParaRPr lang="en-US" sz="1100" dirty="0"/>
          </a:p>
        </p:txBody>
      </p:sp>
      <p:sp>
        <p:nvSpPr>
          <p:cNvPr id="17" name="Text 13"/>
          <p:cNvSpPr txBox="1"/>
          <p:nvPr/>
        </p:nvSpPr>
        <p:spPr>
          <a:xfrm>
            <a:off x="4937760" y="2679192"/>
            <a:ext cx="228600" cy="292608"/>
          </a:xfrm>
          <a:prstGeom prst="rect">
            <a:avLst/>
          </a:prstGeom>
          <a:noFill/>
          <a:ln/>
        </p:spPr>
        <p:txBody>
          <a:bodyPr wrap="square" lIns="0" tIns="0" rIns="0" bIns="0" rtlCol="0" anchor="ctr"/>
          <a:lstStyle/>
          <a:p>
            <a:pPr indent="0" marL="0">
              <a:buNone/>
            </a:pPr>
            <a:r>
              <a:rPr lang="en-US" sz="1200" b="1" dirty="0">
                <a:solidFill>
                  <a:srgbClr val="2ECC71"/>
                </a:solidFill>
              </a:rPr>
              <a:t>✓</a:t>
            </a:r>
            <a:endParaRPr lang="en-US" sz="1200" dirty="0"/>
          </a:p>
        </p:txBody>
      </p:sp>
      <p:sp>
        <p:nvSpPr>
          <p:cNvPr id="18" name="Text 14"/>
          <p:cNvSpPr txBox="1"/>
          <p:nvPr/>
        </p:nvSpPr>
        <p:spPr>
          <a:xfrm>
            <a:off x="5212080" y="2679192"/>
            <a:ext cx="3337560" cy="292608"/>
          </a:xfrm>
          <a:prstGeom prst="rect">
            <a:avLst/>
          </a:prstGeom>
          <a:noFill/>
          <a:ln/>
        </p:spPr>
        <p:txBody>
          <a:bodyPr wrap="square" lIns="0" tIns="0" rIns="0" bIns="0" rtlCol="0" anchor="ctr"/>
          <a:lstStyle/>
          <a:p>
            <a:pPr indent="0" marL="0">
              <a:buNone/>
            </a:pPr>
            <a:r>
              <a:rPr lang="en-US" sz="1100" dirty="0">
                <a:solidFill>
                  <a:srgbClr val="E8EAF0"/>
                </a:solidFill>
              </a:rPr>
              <a:t>Spoken-keyword triggers (English + Hindi)</a:t>
            </a:r>
            <a:endParaRPr lang="en-US" sz="1100" dirty="0"/>
          </a:p>
        </p:txBody>
      </p:sp>
      <p:sp>
        <p:nvSpPr>
          <p:cNvPr id="19" name="Text 15"/>
          <p:cNvSpPr txBox="1"/>
          <p:nvPr/>
        </p:nvSpPr>
        <p:spPr>
          <a:xfrm>
            <a:off x="4937760" y="3008376"/>
            <a:ext cx="228600" cy="292608"/>
          </a:xfrm>
          <a:prstGeom prst="rect">
            <a:avLst/>
          </a:prstGeom>
          <a:noFill/>
          <a:ln/>
        </p:spPr>
        <p:txBody>
          <a:bodyPr wrap="square" lIns="0" tIns="0" rIns="0" bIns="0" rtlCol="0" anchor="ctr"/>
          <a:lstStyle/>
          <a:p>
            <a:pPr indent="0" marL="0">
              <a:buNone/>
            </a:pPr>
            <a:r>
              <a:rPr lang="en-US" sz="1200" b="1" dirty="0">
                <a:solidFill>
                  <a:srgbClr val="2ECC71"/>
                </a:solidFill>
              </a:rPr>
              <a:t>✓</a:t>
            </a:r>
            <a:endParaRPr lang="en-US" sz="1200" dirty="0"/>
          </a:p>
        </p:txBody>
      </p:sp>
      <p:sp>
        <p:nvSpPr>
          <p:cNvPr id="20" name="Text 16"/>
          <p:cNvSpPr txBox="1"/>
          <p:nvPr/>
        </p:nvSpPr>
        <p:spPr>
          <a:xfrm>
            <a:off x="5212080" y="3008376"/>
            <a:ext cx="3337560" cy="292608"/>
          </a:xfrm>
          <a:prstGeom prst="rect">
            <a:avLst/>
          </a:prstGeom>
          <a:noFill/>
          <a:ln/>
        </p:spPr>
        <p:txBody>
          <a:bodyPr wrap="square" lIns="0" tIns="0" rIns="0" bIns="0" rtlCol="0" anchor="ctr"/>
          <a:lstStyle/>
          <a:p>
            <a:pPr indent="0" marL="0">
              <a:buNone/>
            </a:pPr>
            <a:r>
              <a:rPr lang="en-US" sz="1100" dirty="0">
                <a:solidFill>
                  <a:srgbClr val="E8EAF0"/>
                </a:solidFill>
              </a:rPr>
              <a:t>Attack Lab: GPU voice-clone red-teaming</a:t>
            </a:r>
            <a:endParaRPr lang="en-US" sz="1100" dirty="0"/>
          </a:p>
        </p:txBody>
      </p:sp>
      <p:sp>
        <p:nvSpPr>
          <p:cNvPr id="21" name="Text 17"/>
          <p:cNvSpPr txBox="1"/>
          <p:nvPr/>
        </p:nvSpPr>
        <p:spPr>
          <a:xfrm>
            <a:off x="4937760" y="3401568"/>
            <a:ext cx="3611880" cy="256032"/>
          </a:xfrm>
          <a:prstGeom prst="rect">
            <a:avLst/>
          </a:prstGeom>
          <a:noFill/>
          <a:ln/>
        </p:spPr>
        <p:txBody>
          <a:bodyPr wrap="square" lIns="0" tIns="0" rIns="0" bIns="0" rtlCol="0" anchor="ctr"/>
          <a:lstStyle/>
          <a:p>
            <a:pPr indent="0" marL="0">
              <a:buNone/>
            </a:pPr>
            <a:r>
              <a:rPr lang="en-US" sz="1100" b="1" spc="100" kern="0" dirty="0">
                <a:solidFill>
                  <a:srgbClr val="D4FF2A"/>
                </a:solidFill>
              </a:rPr>
              <a:t>NEXT</a:t>
            </a:r>
            <a:endParaRPr lang="en-US" sz="1100" dirty="0"/>
          </a:p>
        </p:txBody>
      </p:sp>
      <p:sp>
        <p:nvSpPr>
          <p:cNvPr id="22" name="Text 18"/>
          <p:cNvSpPr txBox="1"/>
          <p:nvPr/>
        </p:nvSpPr>
        <p:spPr>
          <a:xfrm>
            <a:off x="4937760" y="3675888"/>
            <a:ext cx="3611880" cy="6858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E8EAF0"/>
                </a:solidFill>
              </a:rPr>
              <a:t>Turn the prototype into a proper working web app</a:t>
            </a:r>
            <a:endParaRPr lang="en-US" sz="1100" dirty="0"/>
          </a:p>
          <a:p>
            <a:pPr indent="0" marL="0">
              <a:spcAft>
                <a:spcPts val="400"/>
              </a:spcAft>
              <a:buNone/>
            </a:pPr>
            <a:r>
              <a:rPr lang="en-US" sz="1100" dirty="0">
                <a:solidFill>
                  <a:srgbClr val="E8EAF0"/>
                </a:solidFill>
              </a:rPr>
              <a:t>Telephony audio test: 8 kHz phone-line calls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allShield">
  <a:themeElements>
    <a:clrScheme name="CallShield">
      <a:dk1>
        <a:srgbClr val="E8EAF0"/>
      </a:dk1>
      <a:lt1>
        <a:srgbClr val="0F1115"/>
      </a:lt1>
      <a:dk2>
        <a:srgbClr val="9AA3B2"/>
      </a:dk2>
      <a:lt2>
        <a:srgbClr val="171A21"/>
      </a:lt2>
      <a:accent1>
        <a:srgbClr val="D4FF2A"/>
      </a:accent1>
      <a:accent2>
        <a:srgbClr val="FF4D3D"/>
      </a:accent2>
      <a:accent3>
        <a:srgbClr val="FFB020"/>
      </a:accent3>
      <a:accent4>
        <a:srgbClr val="2ECC71"/>
      </a:accent4>
      <a:accent5>
        <a:srgbClr val="2A2F3A"/>
      </a:accent5>
      <a:accent6>
        <a:srgbClr val="7AA2FF"/>
      </a:accent6>
      <a:hlink>
        <a:srgbClr val="D4FF2A"/>
      </a:hlink>
      <a:folHlink>
        <a:srgbClr val="9AA3B2"/>
      </a:folHlink>
    </a:clrScheme>
    <a:fontScheme name="CallShiel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CallShield — UNCLONE 2026</dc:title>
  <dc:subject>PptxGenJS Presentation</dc:subject>
  <dc:creator>Team CallShield</dc:creator>
  <cp:lastModifiedBy>Team CallShield</cp:lastModifiedBy>
  <cp:revision>1</cp:revision>
  <dcterms:created xsi:type="dcterms:W3CDTF">2026-10-16T12:22:17Z</dcterms:created>
  <dcterms:modified xsi:type="dcterms:W3CDTF">2026-10-16T12:22:17Z</dcterms:modified>
</cp:coreProperties>
</file>