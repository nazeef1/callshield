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a18de098-9539-8a09-4900-9ca40ff7c307}">
          <p14:sldIdLst>
            <p14:sldId id="256"/>
          </p14:sldIdLst>
        </p14:section>
        <p14:section name="Problem" id="{6def30cb-1c83-3831-2bfd-0142e98bf114}">
          <p14:sldIdLst>
            <p14:sldId id="257"/>
          </p14:sldIdLst>
        </p14:section>
        <p14:section name="Solution" id="{7a278e63-42c5-ac6f-e5fc-ace1b0ea7dba}">
          <p14:sldIdLst>
            <p14:sldId id="258"/>
          </p14:sldIdLst>
        </p14:section>
        <p14:section name="DetectifAI" id="{dbec5cb7-973a-1489-163d-4a291491f7cc}">
          <p14:sldIdLst>
            <p14:sldId id="259"/>
          </p14:sldIdLst>
        </p14:section>
        <p14:section name="Impact" id="{942a9df6-1032-af6f-ca6b-54eaa25e2ffe}">
          <p14:sldIdLst>
            <p14:sldId id="260"/>
          </p14:sldIdLst>
        </p14:section>
        <p14:section name="Scale" id="{78be7081-ed90-118c-ba02-0cf8b8d05864}">
          <p14:sldIdLst>
            <p14:sldId id="261"/>
          </p14:sldIdLst>
        </p14:section>
        <p14:section name="Code" id="{e2724c96-c65f-0814-aa3f-cae6b227e126}">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8D95A8"/>
                </a:solidFill>
                <a:latin typeface="+mn-lt"/>
              </a:defRPr>
            </a:pPr>
            <a:r>
              <a:rPr sz="1300" b="0" i="0" u="none" strike="noStrike">
                <a:solidFill>
                  <a:srgbClr val="8D95A8"/>
                </a:solidFill>
                <a:latin typeface="+mn-lt"/>
              </a:rPr>
              <a:t>DetectifAI checks per call (illustrative)</a:t>
            </a:r>
          </a:p>
        </c:rich>
      </c:tx>
      <c:layout/>
      <c:overlay val="0"/>
    </c:title>
    <c:autoTitleDeleted val="0"/>
    <c:plotArea>
      <c:layout/>
      <c:barChart>
        <c:barDir val="bar"/>
        <c:grouping val="clustered"/>
        <c:varyColors val="0"/>
        <c:ser>
          <c:idx val="0"/>
          <c:order val="0"/>
          <c:tx>
            <c:strRef>
              <c:f>Sheet1!$B$1</c:f>
              <c:strCache>
                <c:ptCount val="1"/>
                <c:pt idx="0">
                  <c:v>DetectifAI checks per call</c:v>
                </c:pt>
              </c:strCache>
            </c:strRef>
          </c:tx>
          <c:spPr>
            <a:solidFill>
              <a:srgbClr val="2F3646"/>
            </a:solidFill>
            <a:effectLst/>
          </c:spPr>
          <c:invertIfNegative val="0"/>
          <c:dLbls>
            <c:numFmt formatCode="General" sourceLinked="0"/>
            <c:txPr>
              <a:bodyPr/>
              <a:lstStyle/>
              <a:p>
                <a:pPr>
                  <a:defRPr b="0" i="0" strike="noStrike" sz="1400" u="none">
                    <a:solidFill>
                      <a:srgbClr val="E8EBF2"/>
                    </a:solidFill>
                    <a:latin typeface="+mn-lt"/>
                  </a:defRPr>
                </a:pPr>
              </a:p>
            </c:txPr>
            <c:showLegendKey val="0"/>
            <c:showVal val="1"/>
            <c:showCatName val="0"/>
            <c:showSerName val="0"/>
            <c:showPercent val="0"/>
            <c:showBubbleSize val="0"/>
            <c:showLeaderLines val="0"/>
          </c:dLbls>
          <c:dPt>
            <c:idx val="0"/>
            <c:invertIfNegative val="0"/>
            <c:bubble3D val="0"/>
            <c:spPr>
              <a:solidFill>
                <a:srgbClr val="2F3646"/>
              </a:solidFill>
              <a:effectLst/>
            </c:spPr>
          </c:dPt>
          <c:dPt>
            <c:idx val="1"/>
            <c:invertIfNegative val="0"/>
            <c:bubble3D val="0"/>
            <c:spPr>
              <a:solidFill>
                <a:srgbClr val="D4FF2A"/>
              </a:solidFill>
              <a:effectLst/>
            </c:spPr>
          </c:dPt>
          <c:cat>
            <c:multiLvlStrRef>
              <c:f>Sheet1!$A$2:$A$3</c:f>
              <c:multiLvlStrCache>
                <c:ptCount val="2"/>
                <c:lvl>
                  <c:pt idx="0">
                    <c:v>Scan the whole call</c:v>
                  </c:pt>
                  <c:pt idx="1">
                    <c:v>CallShield</c:v>
                  </c:pt>
                </c:lvl>
              </c:multiLvlStrCache>
            </c:multiLvlStrRef>
          </c:cat>
          <c:val>
            <c:numRef>
              <c:f>Sheet1!$B$2:$B$3</c:f>
              <c:numCache>
                <c:formatCode>General</c:formatCode>
                <c:ptCount val="2"/>
                <c:pt idx="0">
                  <c:v>15</c:v>
                </c:pt>
                <c:pt idx="1">
                  <c:v>0.2</c:v>
                </c:pt>
              </c:numCache>
            </c:numRef>
          </c:val>
        </c:ser>
        <c:dLbls>
          <c:numFmt formatCode="General" sourceLinked="0"/>
          <c:txPr>
            <a:bodyPr/>
            <a:lstStyle/>
            <a:p>
              <a:pPr>
                <a:defRPr b="0" i="0" strike="noStrike" sz="1400" u="none">
                  <a:solidFill>
                    <a:srgbClr val="E8EBF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E8EBF2"/>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 are team CallShield. Our product guards bank helpline calls against cloned voices, and DetectifAI is the engine that makes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 is the bank helpline. The moment: a caller who sounds exactly like the account holder asks to change the registered phone number. Once that goes through, every OTP goes to the fraudster, and the next request is a 50,000 rupee transfer. Security questions are answered with leaked data, and voice-ID on its own was beaten by a free AI clone at Lloyds in 2023. 69% of Indians aren't confident they could tell a clone from the real voice (McAfee 2023), and neither can an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customer enrolls their voice once in our app. When they call, Neerja, our virtual agent, takes the request and asks for the voice passphrase. DetectifAI checks that voice, and the call is approved, handed to a human agent, or blocked, with reasons on screen. On a step-up or block the real customer is alerted in the app and can say "not me". We will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DetectifAI questions drive one decision: is it the enrolled customer (speaker verification on the passphrase) and is it a real voice (deepfake detection). A synthetic verdict always blocks; uncertain or missing results go to a human, so the system fails closed. We also fixed a real edge case: WebRTC calls insert digital silence that dropped a genuine caller's match from 0.85 to 0.21; we strip only that silence and enroll through the same call audio path. Today, real customers matched at 0.83 to 0.89 and were approved; clones scored 0.999 synthetic and were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lost 22,845 crore rupees to cyber fraud in 2024, about three times 2023 (MHA, Lok Sabha). We close one specific door: the support call where a fraudster pretends to be the customer. For the customer, the money never moves and they hear about it in seconds. For the bank, there is no guesswork and every decision is logged. Measured live today: four of four genuine calls approved, two of two clone attacks blocked, a verdict in about seven seconds while Neerja asks the caller to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the business model: banks pay per protected transaction, two DetectifAI checks per high-risk request and nothing for the rest of the call, about 75 times fewer checks than scanning whole calls (assumptions on the slide). Integration uses the audio streams contact centres already expose, so Neerja becomes one step in the bank's phone menu. Risks we have answers for: phone audio (measured and fixed), replay (live passphrase plus customer alert, prompted phrases next), and privacy (opt-in enrollment, delete on request under DPDP).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of the code, the Android app, the receive screen and the Attack Lab, is public at github.com/Nazeef1/callshield.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S_CONTENT">
    <p:bg>
      <p:bgPr>
        <a:solidFill>
          <a:schemeClr val="tx1"/>
        </a:solidFill>
      </p:bgPr>
    </p:bg>
    <p:spTree>
      <p:nvGrpSpPr>
        <p:cNvPr id="1" name=""/>
        <p:cNvGrpSpPr/>
        <p:nvPr/>
      </p:nvGrpSpPr>
      <p:grpSpPr>
        <a:xfrm>
          <a:off x="0" y="0"/>
          <a:ext cx="0" cy="0"/>
          <a:chOff x="0" y="0"/>
          <a:chExt cx="0" cy="0"/>
        </a:xfrm>
      </p:grpSpPr>
      <p:sp>
        <p:nvSpPr>
          <p:cNvPr id="2" name="Text 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bg2"/>
                </a:solidFill>
              </a:rPr>
              <a:t>CallShield · Powered by DetectifAI</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S_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Nazeef1/callshield" TargetMode="External"/><Relationship Id="rId1" Type="http://schemas.openxmlformats.org/officeDocument/2006/relationships/image" Target="../media/image-7-1.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CallShield shield logo">    </p:cNvPr>
          <p:cNvPicPr>
            <a:picLocks noChangeAspect="1"/>
          </p:cNvPicPr>
          <p:nvPr/>
        </p:nvPicPr>
        <p:blipFill>
          <a:blip r:embed="rId1"/>
          <a:stretch>
            <a:fillRect/>
          </a:stretch>
        </p:blipFill>
        <p:spPr>
          <a:xfrm>
            <a:off x="658368" y="1417320"/>
            <a:ext cx="1143000" cy="1143000"/>
          </a:xfrm>
          <a:prstGeom prst="rect">
            <a:avLst/>
          </a:prstGeom>
        </p:spPr>
      </p:pic>
      <p:sp>
        <p:nvSpPr>
          <p:cNvPr id="3" name="name"/>
          <p:cNvSpPr txBox="1"/>
          <p:nvPr/>
        </p:nvSpPr>
        <p:spPr>
          <a:xfrm>
            <a:off x="822960" y="2697480"/>
            <a:ext cx="8229600" cy="1188720"/>
          </a:xfrm>
          <a:prstGeom prst="rect">
            <a:avLst/>
          </a:prstGeom>
          <a:noFill/>
          <a:ln/>
        </p:spPr>
        <p:txBody>
          <a:bodyPr wrap="square" lIns="0" tIns="0" rIns="0" bIns="0" rtlCol="0" anchor="ctr"/>
          <a:lstStyle/>
          <a:p>
            <a:pPr indent="0" marL="0">
              <a:buNone/>
            </a:pPr>
            <a:r>
              <a:rPr lang="en-US" sz="6600" b="1" dirty="0">
                <a:solidFill>
                  <a:schemeClr val="bg1"/>
                </a:solidFill>
              </a:rPr>
              <a:t>CallShield</a:t>
            </a:r>
            <a:endParaRPr lang="en-US" sz="6600" dirty="0"/>
          </a:p>
        </p:txBody>
      </p:sp>
      <p:sp>
        <p:nvSpPr>
          <p:cNvPr id="4" name="tagline"/>
          <p:cNvSpPr txBox="1"/>
          <p:nvPr/>
        </p:nvSpPr>
        <p:spPr>
          <a:xfrm>
            <a:off x="822960" y="3886200"/>
            <a:ext cx="9144000" cy="548640"/>
          </a:xfrm>
          <a:prstGeom prst="rect">
            <a:avLst/>
          </a:prstGeom>
          <a:noFill/>
          <a:ln/>
        </p:spPr>
        <p:txBody>
          <a:bodyPr wrap="square" lIns="0" tIns="0" rIns="0" bIns="0" rtlCol="0" anchor="ctr"/>
          <a:lstStyle/>
          <a:p>
            <a:pPr indent="0" marL="0">
              <a:buNone/>
            </a:pPr>
            <a:r>
              <a:rPr lang="en-US" sz="2400" dirty="0">
                <a:solidFill>
                  <a:schemeClr val="bg2"/>
                </a:solidFill>
              </a:rPr>
              <a:t>A voice-clone fraud guard for bank helpline calls</a:t>
            </a:r>
            <a:endParaRPr lang="en-US" sz="2400" dirty="0"/>
          </a:p>
        </p:txBody>
      </p:sp>
      <p:sp>
        <p:nvSpPr>
          <p:cNvPr id="5" name="powered"/>
          <p:cNvSpPr txBox="1"/>
          <p:nvPr/>
        </p:nvSpPr>
        <p:spPr>
          <a:xfrm>
            <a:off x="822960" y="4480560"/>
            <a:ext cx="7315200" cy="457200"/>
          </a:xfrm>
          <a:prstGeom prst="rect">
            <a:avLst/>
          </a:prstGeom>
          <a:noFill/>
          <a:ln/>
        </p:spPr>
        <p:txBody>
          <a:bodyPr wrap="square" lIns="0" tIns="0" rIns="0" bIns="0" rtlCol="0" anchor="ctr"/>
          <a:lstStyle/>
          <a:p>
            <a:pPr indent="0" marL="0">
              <a:buNone/>
            </a:pPr>
            <a:r>
              <a:rPr lang="en-US" sz="1800" dirty="0">
                <a:solidFill>
                  <a:schemeClr val="bg2"/>
                </a:solidFill>
              </a:rPr>
              <a:t>Powered by </a:t>
            </a:r>
            <a:pPr indent="0" marL="0">
              <a:buNone/>
            </a:pPr>
            <a:r>
              <a:rPr lang="en-US" sz="1800" b="1" dirty="0">
                <a:solidFill>
                  <a:schemeClr val="accent1"/>
                </a:solidFill>
              </a:rPr>
              <a:t>DetectifAI</a:t>
            </a:r>
            <a:endParaRPr lang="en-US" sz="1800" dirty="0"/>
          </a:p>
        </p:txBody>
      </p:sp>
      <p:sp>
        <p:nvSpPr>
          <p:cNvPr id="6" name="team"/>
          <p:cNvSpPr txBox="1"/>
          <p:nvPr/>
        </p:nvSpPr>
        <p:spPr>
          <a:xfrm>
            <a:off x="822960" y="5532120"/>
            <a:ext cx="10515600" cy="365760"/>
          </a:xfrm>
          <a:prstGeom prst="rect">
            <a:avLst/>
          </a:prstGeom>
          <a:noFill/>
          <a:ln/>
        </p:spPr>
        <p:txBody>
          <a:bodyPr wrap="square" lIns="0" tIns="0" rIns="0" bIns="0" rtlCol="0" anchor="ctr"/>
          <a:lstStyle/>
          <a:p>
            <a:pPr indent="0" marL="0">
              <a:buNone/>
            </a:pPr>
            <a:r>
              <a:rPr lang="en-US" sz="1600" b="1" dirty="0">
                <a:solidFill>
                  <a:schemeClr val="accent1"/>
                </a:solidFill>
              </a:rPr>
              <a:t>Team 1</a:t>
            </a:r>
            <a:pPr indent="0" marL="0">
              <a:buNone/>
            </a:pPr>
            <a:r>
              <a:rPr lang="en-US" sz="1600" dirty="0">
                <a:solidFill>
                  <a:schemeClr val="bg1"/>
                </a:solidFill>
              </a:rPr>
              <a:t>   Zain Mahedi (lead)  ·  Nazeef Ahsan Rafiqui</a:t>
            </a:r>
            <a:endParaRPr lang="en-US" sz="1600" dirty="0"/>
          </a:p>
        </p:txBody>
      </p:sp>
      <p:sp>
        <p:nvSpPr>
          <p:cNvPr id="7" name="event"/>
          <p:cNvSpPr txBox="1"/>
          <p:nvPr/>
        </p:nvSpPr>
        <p:spPr>
          <a:xfrm>
            <a:off x="822960" y="5989320"/>
            <a:ext cx="10515600" cy="365760"/>
          </a:xfrm>
          <a:prstGeom prst="rect">
            <a:avLst/>
          </a:prstGeom>
          <a:noFill/>
          <a:ln/>
        </p:spPr>
        <p:txBody>
          <a:bodyPr wrap="square" lIns="0" tIns="0" rIns="0" bIns="0" rtlCol="0" anchor="ctr"/>
          <a:lstStyle/>
          <a:p>
            <a:pPr indent="0" marL="0">
              <a:buNone/>
            </a:pPr>
            <a:r>
              <a:rPr lang="en-US" sz="1200" dirty="0">
                <a:solidFill>
                  <a:schemeClr val="bg2"/>
                </a:solidFill>
              </a:rPr>
              <a:t>UNCLONE AI Hackathon  ·  Track 01: Unclone Finance  ·  B.M.S. College of Engineering  ·  17 Oct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PROBLEM</a:t>
            </a:r>
            <a:endParaRPr lang="en-US" sz="1300" dirty="0"/>
          </a:p>
        </p:txBody>
      </p:sp>
      <p:sp>
        <p:nvSpPr>
          <p:cNvPr id="3" name="title"/>
          <p:cNvSpPr txBox="1"/>
          <p:nvPr/>
        </p:nvSpPr>
        <p:spPr>
          <a:xfrm>
            <a:off x="548640" y="822960"/>
            <a:ext cx="11064240" cy="777240"/>
          </a:xfrm>
          <a:prstGeom prst="rect">
            <a:avLst/>
          </a:prstGeom>
          <a:noFill/>
          <a:ln/>
        </p:spPr>
        <p:txBody>
          <a:bodyPr wrap="square" lIns="0" tIns="0" rIns="0" bIns="0" rtlCol="0" anchor="t"/>
          <a:lstStyle/>
          <a:p>
            <a:pPr indent="0" marL="0">
              <a:buNone/>
            </a:pPr>
            <a:r>
              <a:rPr lang="en-US" sz="3400" b="1" dirty="0">
                <a:solidFill>
                  <a:schemeClr val="bg1"/>
                </a:solidFill>
              </a:rPr>
              <a:t>It sounds like your customer. It isn't.</a:t>
            </a:r>
            <a:endParaRPr lang="en-US" sz="3400" dirty="0"/>
          </a:p>
        </p:txBody>
      </p:sp>
      <p:sp>
        <p:nvSpPr>
          <p:cNvPr id="4" name="quote"/>
          <p:cNvSpPr/>
          <p:nvPr/>
        </p:nvSpPr>
        <p:spPr>
          <a:xfrm>
            <a:off x="548640" y="1874520"/>
            <a:ext cx="6675120" cy="1417320"/>
          </a:xfrm>
          <a:prstGeom prst="roundRect">
            <a:avLst>
              <a:gd name="adj" fmla="val 7742"/>
            </a:avLst>
          </a:prstGeom>
          <a:solidFill>
            <a:schemeClr val="tx2"/>
          </a:solidFill>
          <a:ln w="9525">
            <a:solidFill>
              <a:schemeClr val="accent6"/>
            </a:solidFill>
            <a:prstDash val="solid"/>
          </a:ln>
        </p:spPr>
      </p:sp>
      <p:sp>
        <p:nvSpPr>
          <p:cNvPr id="5" name="Text 3"/>
          <p:cNvSpPr txBox="1"/>
          <p:nvPr/>
        </p:nvSpPr>
        <p:spPr>
          <a:xfrm>
            <a:off x="868680" y="2011680"/>
            <a:ext cx="6126480" cy="1143000"/>
          </a:xfrm>
          <a:prstGeom prst="rect">
            <a:avLst/>
          </a:prstGeom>
          <a:noFill/>
          <a:ln/>
        </p:spPr>
        <p:txBody>
          <a:bodyPr wrap="square" lIns="0" tIns="0" rIns="0" bIns="0" rtlCol="0" anchor="ctr"/>
          <a:lstStyle/>
          <a:p>
            <a:pPr indent="0" marL="0">
              <a:buNone/>
            </a:pPr>
            <a:r>
              <a:rPr lang="en-US" sz="2100" i="1" dirty="0">
                <a:solidFill>
                  <a:schemeClr val="bg1"/>
                </a:solidFill>
              </a:rPr>
              <a:t>“Hi, it’s Ramesh. I’ve got a new number. Please update the phone number on my account.”</a:t>
            </a:r>
            <a:endParaRPr lang="en-US" sz="2100" dirty="0"/>
          </a:p>
        </p:txBody>
      </p:sp>
      <p:sp>
        <p:nvSpPr>
          <p:cNvPr id="6" name="Text 4"/>
          <p:cNvSpPr txBox="1"/>
          <p:nvPr/>
        </p:nvSpPr>
        <p:spPr>
          <a:xfrm>
            <a:off x="548640" y="3657600"/>
            <a:ext cx="1828800" cy="548640"/>
          </a:xfrm>
          <a:prstGeom prst="rect">
            <a:avLst/>
          </a:prstGeom>
          <a:noFill/>
          <a:ln/>
        </p:spPr>
        <p:txBody>
          <a:bodyPr wrap="square" lIns="0" tIns="0" rIns="0" bIns="0" rtlCol="0" anchor="t"/>
          <a:lstStyle/>
          <a:p>
            <a:pPr indent="0" marL="0">
              <a:buNone/>
            </a:pPr>
            <a:r>
              <a:rPr lang="en-US" sz="1500" b="1" dirty="0">
                <a:solidFill>
                  <a:schemeClr val="accent1"/>
                </a:solidFill>
              </a:rPr>
              <a:t>The moment</a:t>
            </a:r>
            <a:endParaRPr lang="en-US" sz="1500" dirty="0"/>
          </a:p>
        </p:txBody>
      </p:sp>
      <p:sp>
        <p:nvSpPr>
          <p:cNvPr id="7" name="Text 5"/>
          <p:cNvSpPr txBox="1"/>
          <p:nvPr/>
        </p:nvSpPr>
        <p:spPr>
          <a:xfrm>
            <a:off x="2377440" y="3657600"/>
            <a:ext cx="4846320" cy="640080"/>
          </a:xfrm>
          <a:prstGeom prst="rect">
            <a:avLst/>
          </a:prstGeom>
          <a:noFill/>
          <a:ln/>
        </p:spPr>
        <p:txBody>
          <a:bodyPr wrap="square" lIns="0" tIns="0" rIns="0" bIns="0" rtlCol="0" anchor="t"/>
          <a:lstStyle/>
          <a:p>
            <a:pPr indent="0" marL="0">
              <a:buNone/>
            </a:pPr>
            <a:r>
              <a:rPr lang="en-US" sz="1500" dirty="0">
                <a:solidFill>
                  <a:schemeClr val="bg1"/>
                </a:solidFill>
              </a:rPr>
              <a:t>A cloned voice asks the bank to change the phone number, so every OTP goes to the fraudster.</a:t>
            </a:r>
            <a:endParaRPr lang="en-US" sz="1500" dirty="0"/>
          </a:p>
        </p:txBody>
      </p:sp>
      <p:sp>
        <p:nvSpPr>
          <p:cNvPr id="8" name="Text 6"/>
          <p:cNvSpPr txBox="1"/>
          <p:nvPr/>
        </p:nvSpPr>
        <p:spPr>
          <a:xfrm>
            <a:off x="548640" y="4434840"/>
            <a:ext cx="1828800" cy="548640"/>
          </a:xfrm>
          <a:prstGeom prst="rect">
            <a:avLst/>
          </a:prstGeom>
          <a:noFill/>
          <a:ln/>
        </p:spPr>
        <p:txBody>
          <a:bodyPr wrap="square" lIns="0" tIns="0" rIns="0" bIns="0" rtlCol="0" anchor="t"/>
          <a:lstStyle/>
          <a:p>
            <a:pPr indent="0" marL="0">
              <a:buNone/>
            </a:pPr>
            <a:r>
              <a:rPr lang="en-US" sz="1500" b="1" dirty="0">
                <a:solidFill>
                  <a:schemeClr val="accent1"/>
                </a:solidFill>
              </a:rPr>
              <a:t>Why it works</a:t>
            </a:r>
            <a:endParaRPr lang="en-US" sz="1500" dirty="0"/>
          </a:p>
        </p:txBody>
      </p:sp>
      <p:sp>
        <p:nvSpPr>
          <p:cNvPr id="9" name="Text 7"/>
          <p:cNvSpPr txBox="1"/>
          <p:nvPr/>
        </p:nvSpPr>
        <p:spPr>
          <a:xfrm>
            <a:off x="2377440" y="4434840"/>
            <a:ext cx="4846320" cy="640080"/>
          </a:xfrm>
          <a:prstGeom prst="rect">
            <a:avLst/>
          </a:prstGeom>
          <a:noFill/>
          <a:ln/>
        </p:spPr>
        <p:txBody>
          <a:bodyPr wrap="square" lIns="0" tIns="0" rIns="0" bIns="0" rtlCol="0" anchor="t"/>
          <a:lstStyle/>
          <a:p>
            <a:pPr indent="0" marL="0">
              <a:buNone/>
            </a:pPr>
            <a:r>
              <a:rPr lang="en-US" sz="1500" dirty="0">
                <a:solidFill>
                  <a:schemeClr val="bg1"/>
                </a:solidFill>
              </a:rPr>
              <a:t>Security questions use leaked data. Voice-ID alone was beaten by a free clone (Lloyds Bank, 2023).</a:t>
            </a:r>
            <a:endParaRPr lang="en-US" sz="1500" dirty="0"/>
          </a:p>
        </p:txBody>
      </p:sp>
      <p:sp>
        <p:nvSpPr>
          <p:cNvPr id="10" name="Text 8"/>
          <p:cNvSpPr txBox="1"/>
          <p:nvPr/>
        </p:nvSpPr>
        <p:spPr>
          <a:xfrm>
            <a:off x="548640" y="5212080"/>
            <a:ext cx="1828800" cy="548640"/>
          </a:xfrm>
          <a:prstGeom prst="rect">
            <a:avLst/>
          </a:prstGeom>
          <a:noFill/>
          <a:ln/>
        </p:spPr>
        <p:txBody>
          <a:bodyPr wrap="square" lIns="0" tIns="0" rIns="0" bIns="0" rtlCol="0" anchor="t"/>
          <a:lstStyle/>
          <a:p>
            <a:pPr indent="0" marL="0">
              <a:buNone/>
            </a:pPr>
            <a:r>
              <a:rPr lang="en-US" sz="1500" b="1" dirty="0">
                <a:solidFill>
                  <a:schemeClr val="accent1"/>
                </a:solidFill>
              </a:rPr>
              <a:t>Who loses</a:t>
            </a:r>
            <a:endParaRPr lang="en-US" sz="1500" dirty="0"/>
          </a:p>
        </p:txBody>
      </p:sp>
      <p:sp>
        <p:nvSpPr>
          <p:cNvPr id="11" name="Text 9"/>
          <p:cNvSpPr txBox="1"/>
          <p:nvPr/>
        </p:nvSpPr>
        <p:spPr>
          <a:xfrm>
            <a:off x="2377440" y="5212080"/>
            <a:ext cx="4846320" cy="640080"/>
          </a:xfrm>
          <a:prstGeom prst="rect">
            <a:avLst/>
          </a:prstGeom>
          <a:noFill/>
          <a:ln/>
        </p:spPr>
        <p:txBody>
          <a:bodyPr wrap="square" lIns="0" tIns="0" rIns="0" bIns="0" rtlCol="0" anchor="t"/>
          <a:lstStyle/>
          <a:p>
            <a:pPr indent="0" marL="0">
              <a:buNone/>
            </a:pPr>
            <a:r>
              <a:rPr lang="en-US" sz="1500" dirty="0">
                <a:solidFill>
                  <a:schemeClr val="bg1"/>
                </a:solidFill>
              </a:rPr>
              <a:t>The account holder, whose voice came from a reel, a voice note or a "survey" call.</a:t>
            </a:r>
            <a:endParaRPr lang="en-US" sz="1500" dirty="0"/>
          </a:p>
        </p:txBody>
      </p:sp>
      <p:sp>
        <p:nvSpPr>
          <p:cNvPr id="12" name="stat"/>
          <p:cNvSpPr/>
          <p:nvPr/>
        </p:nvSpPr>
        <p:spPr>
          <a:xfrm>
            <a:off x="7863840" y="1874520"/>
            <a:ext cx="3749040" cy="4069080"/>
          </a:xfrm>
          <a:prstGeom prst="roundRect">
            <a:avLst>
              <a:gd name="adj" fmla="val 2927"/>
            </a:avLst>
          </a:prstGeom>
          <a:solidFill>
            <a:schemeClr val="tx2"/>
          </a:solidFill>
          <a:ln w="9525">
            <a:solidFill>
              <a:schemeClr val="accent6"/>
            </a:solidFill>
            <a:prstDash val="solid"/>
          </a:ln>
        </p:spPr>
      </p:sp>
      <p:sp>
        <p:nvSpPr>
          <p:cNvPr id="13" name="Text 11"/>
          <p:cNvSpPr txBox="1"/>
          <p:nvPr/>
        </p:nvSpPr>
        <p:spPr>
          <a:xfrm>
            <a:off x="8138160" y="2331720"/>
            <a:ext cx="3200400" cy="1371600"/>
          </a:xfrm>
          <a:prstGeom prst="rect">
            <a:avLst/>
          </a:prstGeom>
          <a:noFill/>
          <a:ln/>
        </p:spPr>
        <p:txBody>
          <a:bodyPr wrap="square" lIns="0" tIns="0" rIns="0" bIns="0" rtlCol="0" anchor="ctr"/>
          <a:lstStyle/>
          <a:p>
            <a:pPr algn="l" indent="0" marL="0">
              <a:buNone/>
            </a:pPr>
            <a:r>
              <a:rPr lang="en-US" sz="8000" b="1" dirty="0">
                <a:solidFill>
                  <a:schemeClr val="accent4"/>
                </a:solidFill>
              </a:rPr>
              <a:t>69%</a:t>
            </a:r>
            <a:endParaRPr lang="en-US" sz="8000" dirty="0"/>
          </a:p>
        </p:txBody>
      </p:sp>
      <p:sp>
        <p:nvSpPr>
          <p:cNvPr id="14" name="Text 12"/>
          <p:cNvSpPr txBox="1"/>
          <p:nvPr/>
        </p:nvSpPr>
        <p:spPr>
          <a:xfrm>
            <a:off x="8138160" y="3794760"/>
            <a:ext cx="3200400" cy="1097280"/>
          </a:xfrm>
          <a:prstGeom prst="rect">
            <a:avLst/>
          </a:prstGeom>
          <a:noFill/>
          <a:ln/>
        </p:spPr>
        <p:txBody>
          <a:bodyPr wrap="square" lIns="0" tIns="0" rIns="0" bIns="0" rtlCol="0" anchor="t"/>
          <a:lstStyle/>
          <a:p>
            <a:pPr indent="0" marL="0">
              <a:buNone/>
            </a:pPr>
            <a:r>
              <a:rPr lang="en-US" sz="1600" dirty="0">
                <a:solidFill>
                  <a:schemeClr val="bg1"/>
                </a:solidFill>
              </a:rPr>
              <a:t>of Indians aren’t confident they could tell a cloned voice from the real one.</a:t>
            </a:r>
            <a:endParaRPr lang="en-US" sz="1600" dirty="0"/>
          </a:p>
        </p:txBody>
      </p:sp>
      <p:sp>
        <p:nvSpPr>
          <p:cNvPr id="15" name="Text 13"/>
          <p:cNvSpPr txBox="1"/>
          <p:nvPr/>
        </p:nvSpPr>
        <p:spPr>
          <a:xfrm>
            <a:off x="8138160" y="5257800"/>
            <a:ext cx="3200400" cy="365760"/>
          </a:xfrm>
          <a:prstGeom prst="rect">
            <a:avLst/>
          </a:prstGeom>
          <a:noFill/>
          <a:ln/>
        </p:spPr>
        <p:txBody>
          <a:bodyPr wrap="square" lIns="0" tIns="0" rIns="0" bIns="0" rtlCol="0" anchor="ctr"/>
          <a:lstStyle/>
          <a:p>
            <a:pPr indent="0" marL="0">
              <a:buNone/>
            </a:pPr>
            <a:r>
              <a:rPr lang="en-US" sz="1000" dirty="0">
                <a:solidFill>
                  <a:schemeClr val="bg2"/>
                </a:solidFill>
              </a:rPr>
              <a:t>McAfee, “Beware the Artificial Impostor”, 2023</a:t>
            </a:r>
            <a:endParaRPr lang="en-US" sz="10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SOLUTION</a:t>
            </a:r>
            <a:endParaRPr lang="en-US" sz="1300" dirty="0"/>
          </a:p>
        </p:txBody>
      </p:sp>
      <p:sp>
        <p:nvSpPr>
          <p:cNvPr id="3" name="title"/>
          <p:cNvSpPr txBox="1"/>
          <p:nvPr/>
        </p:nvSpPr>
        <p:spPr>
          <a:xfrm>
            <a:off x="548640" y="822960"/>
            <a:ext cx="11064240" cy="777240"/>
          </a:xfrm>
          <a:prstGeom prst="rect">
            <a:avLst/>
          </a:prstGeom>
          <a:noFill/>
          <a:ln/>
        </p:spPr>
        <p:txBody>
          <a:bodyPr wrap="square" lIns="0" tIns="0" rIns="0" bIns="0" rtlCol="0" anchor="t"/>
          <a:lstStyle/>
          <a:p>
            <a:pPr indent="0" marL="0">
              <a:buNone/>
            </a:pPr>
            <a:r>
              <a:rPr lang="en-US" sz="3400" b="1" dirty="0">
                <a:solidFill>
                  <a:schemeClr val="bg1"/>
                </a:solidFill>
              </a:rPr>
              <a:t>Neerja checks the voice before money moves</a:t>
            </a:r>
            <a:endParaRPr lang="en-US" sz="3400" dirty="0"/>
          </a:p>
        </p:txBody>
      </p:sp>
      <p:sp>
        <p:nvSpPr>
          <p:cNvPr id="4" name="step1"/>
          <p:cNvSpPr/>
          <p:nvPr/>
        </p:nvSpPr>
        <p:spPr>
          <a:xfrm>
            <a:off x="548640" y="1965960"/>
            <a:ext cx="2606040" cy="2514600"/>
          </a:xfrm>
          <a:prstGeom prst="roundRect">
            <a:avLst>
              <a:gd name="adj" fmla="val 4364"/>
            </a:avLst>
          </a:prstGeom>
          <a:solidFill>
            <a:schemeClr val="tx2"/>
          </a:solidFill>
          <a:ln w="9525">
            <a:solidFill>
              <a:schemeClr val="accent6"/>
            </a:solidFill>
            <a:prstDash val="solid"/>
          </a:ln>
        </p:spPr>
      </p:sp>
      <p:sp>
        <p:nvSpPr>
          <p:cNvPr id="5" name="step1-dot"/>
          <p:cNvSpPr/>
          <p:nvPr/>
        </p:nvSpPr>
        <p:spPr>
          <a:xfrm>
            <a:off x="822960" y="2240280"/>
            <a:ext cx="566928" cy="566928"/>
          </a:xfrm>
          <a:prstGeom prst="ellipse">
            <a:avLst/>
          </a:prstGeom>
          <a:solidFill>
            <a:schemeClr val="accent1"/>
          </a:solidFill>
          <a:ln w="12700">
            <a:solidFill>
              <a:schemeClr val="accent1"/>
            </a:solidFill>
            <a:prstDash val="solid"/>
          </a:ln>
        </p:spPr>
      </p:sp>
      <p:sp>
        <p:nvSpPr>
          <p:cNvPr id="6" name="Text 4"/>
          <p:cNvSpPr txBox="1"/>
          <p:nvPr/>
        </p:nvSpPr>
        <p:spPr>
          <a:xfrm>
            <a:off x="822960" y="2240280"/>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5"/>
          <p:cNvSpPr txBox="1"/>
          <p:nvPr/>
        </p:nvSpPr>
        <p:spPr>
          <a:xfrm>
            <a:off x="822960" y="2971800"/>
            <a:ext cx="2057400" cy="411480"/>
          </a:xfrm>
          <a:prstGeom prst="rect">
            <a:avLst/>
          </a:prstGeom>
          <a:noFill/>
          <a:ln/>
        </p:spPr>
        <p:txBody>
          <a:bodyPr wrap="square" lIns="0" tIns="0" rIns="0" bIns="0" rtlCol="0" anchor="ctr"/>
          <a:lstStyle/>
          <a:p>
            <a:pPr indent="0" marL="0">
              <a:buNone/>
            </a:pPr>
            <a:r>
              <a:rPr lang="en-US" sz="2000" b="1" dirty="0">
                <a:solidFill>
                  <a:schemeClr val="bg1"/>
                </a:solidFill>
              </a:rPr>
              <a:t>Enroll</a:t>
            </a:r>
            <a:endParaRPr lang="en-US" sz="2000" dirty="0"/>
          </a:p>
        </p:txBody>
      </p:sp>
      <p:sp>
        <p:nvSpPr>
          <p:cNvPr id="8" name="Text 6"/>
          <p:cNvSpPr txBox="1"/>
          <p:nvPr/>
        </p:nvSpPr>
        <p:spPr>
          <a:xfrm>
            <a:off x="822960" y="3429000"/>
            <a:ext cx="2103120" cy="960120"/>
          </a:xfrm>
          <a:prstGeom prst="rect">
            <a:avLst/>
          </a:prstGeom>
          <a:noFill/>
          <a:ln/>
        </p:spPr>
        <p:txBody>
          <a:bodyPr wrap="square" lIns="0" tIns="0" rIns="0" bIns="0" rtlCol="0" anchor="t"/>
          <a:lstStyle/>
          <a:p>
            <a:pPr indent="0" marL="0">
              <a:buNone/>
            </a:pPr>
            <a:r>
              <a:rPr lang="en-US" sz="1400" dirty="0">
                <a:solidFill>
                  <a:schemeClr val="bg2"/>
                </a:solidFill>
              </a:rPr>
              <a:t>The customer reads a short script in the CallShield Bank app. About 25 seconds, once.</a:t>
            </a:r>
            <a:endParaRPr lang="en-US" sz="1400" dirty="0"/>
          </a:p>
        </p:txBody>
      </p:sp>
      <p:sp>
        <p:nvSpPr>
          <p:cNvPr id="9" name="step2"/>
          <p:cNvSpPr/>
          <p:nvPr/>
        </p:nvSpPr>
        <p:spPr>
          <a:xfrm>
            <a:off x="3401568" y="1965960"/>
            <a:ext cx="2606040" cy="2514600"/>
          </a:xfrm>
          <a:prstGeom prst="roundRect">
            <a:avLst>
              <a:gd name="adj" fmla="val 4364"/>
            </a:avLst>
          </a:prstGeom>
          <a:solidFill>
            <a:schemeClr val="tx2"/>
          </a:solidFill>
          <a:ln w="9525">
            <a:solidFill>
              <a:schemeClr val="accent6"/>
            </a:solidFill>
            <a:prstDash val="solid"/>
          </a:ln>
        </p:spPr>
      </p:sp>
      <p:sp>
        <p:nvSpPr>
          <p:cNvPr id="10" name="step2-dot"/>
          <p:cNvSpPr/>
          <p:nvPr/>
        </p:nvSpPr>
        <p:spPr>
          <a:xfrm>
            <a:off x="3675888" y="2240280"/>
            <a:ext cx="566928" cy="566928"/>
          </a:xfrm>
          <a:prstGeom prst="ellipse">
            <a:avLst/>
          </a:prstGeom>
          <a:solidFill>
            <a:schemeClr val="accent1"/>
          </a:solidFill>
          <a:ln w="12700">
            <a:solidFill>
              <a:schemeClr val="accent1"/>
            </a:solidFill>
            <a:prstDash val="solid"/>
          </a:ln>
        </p:spPr>
      </p:sp>
      <p:sp>
        <p:nvSpPr>
          <p:cNvPr id="11" name="Text 9"/>
          <p:cNvSpPr txBox="1"/>
          <p:nvPr/>
        </p:nvSpPr>
        <p:spPr>
          <a:xfrm>
            <a:off x="3675888" y="2240280"/>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2" name="Text 10"/>
          <p:cNvSpPr txBox="1"/>
          <p:nvPr/>
        </p:nvSpPr>
        <p:spPr>
          <a:xfrm>
            <a:off x="3675888" y="2971800"/>
            <a:ext cx="2057400" cy="411480"/>
          </a:xfrm>
          <a:prstGeom prst="rect">
            <a:avLst/>
          </a:prstGeom>
          <a:noFill/>
          <a:ln/>
        </p:spPr>
        <p:txBody>
          <a:bodyPr wrap="square" lIns="0" tIns="0" rIns="0" bIns="0" rtlCol="0" anchor="ctr"/>
          <a:lstStyle/>
          <a:p>
            <a:pPr indent="0" marL="0">
              <a:buNone/>
            </a:pPr>
            <a:r>
              <a:rPr lang="en-US" sz="2000" b="1" dirty="0">
                <a:solidFill>
                  <a:schemeClr val="bg1"/>
                </a:solidFill>
              </a:rPr>
              <a:t>Call</a:t>
            </a:r>
            <a:endParaRPr lang="en-US" sz="2000" dirty="0"/>
          </a:p>
        </p:txBody>
      </p:sp>
      <p:sp>
        <p:nvSpPr>
          <p:cNvPr id="13" name="Text 11"/>
          <p:cNvSpPr txBox="1"/>
          <p:nvPr/>
        </p:nvSpPr>
        <p:spPr>
          <a:xfrm>
            <a:off x="3675888" y="3429000"/>
            <a:ext cx="2103120" cy="960120"/>
          </a:xfrm>
          <a:prstGeom prst="rect">
            <a:avLst/>
          </a:prstGeom>
          <a:noFill/>
          <a:ln/>
        </p:spPr>
        <p:txBody>
          <a:bodyPr wrap="square" lIns="0" tIns="0" rIns="0" bIns="0" rtlCol="0" anchor="t"/>
          <a:lstStyle/>
          <a:p>
            <a:pPr indent="0" marL="0">
              <a:buNone/>
            </a:pPr>
            <a:r>
              <a:rPr lang="en-US" sz="1400" dirty="0">
                <a:solidFill>
                  <a:schemeClr val="bg2"/>
                </a:solidFill>
              </a:rPr>
              <a:t>Neerja, the virtual agent, hears the request and asks for the voice passphrase.</a:t>
            </a:r>
            <a:endParaRPr lang="en-US" sz="1400" dirty="0"/>
          </a:p>
        </p:txBody>
      </p:sp>
      <p:sp>
        <p:nvSpPr>
          <p:cNvPr id="14" name="step3"/>
          <p:cNvSpPr/>
          <p:nvPr/>
        </p:nvSpPr>
        <p:spPr>
          <a:xfrm>
            <a:off x="6254496" y="1965960"/>
            <a:ext cx="2606040" cy="2514600"/>
          </a:xfrm>
          <a:prstGeom prst="roundRect">
            <a:avLst>
              <a:gd name="adj" fmla="val 4364"/>
            </a:avLst>
          </a:prstGeom>
          <a:solidFill>
            <a:schemeClr val="tx2"/>
          </a:solidFill>
          <a:ln w="9525">
            <a:solidFill>
              <a:schemeClr val="accent6"/>
            </a:solidFill>
            <a:prstDash val="solid"/>
          </a:ln>
        </p:spPr>
      </p:sp>
      <p:sp>
        <p:nvSpPr>
          <p:cNvPr id="15" name="step3-dot"/>
          <p:cNvSpPr/>
          <p:nvPr/>
        </p:nvSpPr>
        <p:spPr>
          <a:xfrm>
            <a:off x="6528816" y="2240280"/>
            <a:ext cx="566928" cy="566928"/>
          </a:xfrm>
          <a:prstGeom prst="ellipse">
            <a:avLst/>
          </a:prstGeom>
          <a:solidFill>
            <a:schemeClr val="accent1"/>
          </a:solidFill>
          <a:ln w="12700">
            <a:solidFill>
              <a:schemeClr val="accent1"/>
            </a:solidFill>
            <a:prstDash val="solid"/>
          </a:ln>
        </p:spPr>
      </p:sp>
      <p:sp>
        <p:nvSpPr>
          <p:cNvPr id="16" name="Text 14"/>
          <p:cNvSpPr txBox="1"/>
          <p:nvPr/>
        </p:nvSpPr>
        <p:spPr>
          <a:xfrm>
            <a:off x="6528816" y="2240280"/>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7" name="Text 15"/>
          <p:cNvSpPr txBox="1"/>
          <p:nvPr/>
        </p:nvSpPr>
        <p:spPr>
          <a:xfrm>
            <a:off x="6528816" y="2971800"/>
            <a:ext cx="2057400" cy="411480"/>
          </a:xfrm>
          <a:prstGeom prst="rect">
            <a:avLst/>
          </a:prstGeom>
          <a:noFill/>
          <a:ln/>
        </p:spPr>
        <p:txBody>
          <a:bodyPr wrap="square" lIns="0" tIns="0" rIns="0" bIns="0" rtlCol="0" anchor="ctr"/>
          <a:lstStyle/>
          <a:p>
            <a:pPr indent="0" marL="0">
              <a:buNone/>
            </a:pPr>
            <a:r>
              <a:rPr lang="en-US" sz="2000" b="1" dirty="0">
                <a:solidFill>
                  <a:schemeClr val="bg1"/>
                </a:solidFill>
              </a:rPr>
              <a:t>Decide</a:t>
            </a:r>
            <a:endParaRPr lang="en-US" sz="2000" dirty="0"/>
          </a:p>
        </p:txBody>
      </p:sp>
      <p:sp>
        <p:nvSpPr>
          <p:cNvPr id="18" name="Text 16"/>
          <p:cNvSpPr txBox="1"/>
          <p:nvPr/>
        </p:nvSpPr>
        <p:spPr>
          <a:xfrm>
            <a:off x="6528816" y="3429000"/>
            <a:ext cx="2103120" cy="960120"/>
          </a:xfrm>
          <a:prstGeom prst="rect">
            <a:avLst/>
          </a:prstGeom>
          <a:noFill/>
          <a:ln/>
        </p:spPr>
        <p:txBody>
          <a:bodyPr wrap="square" lIns="0" tIns="0" rIns="0" bIns="0" rtlCol="0" anchor="t"/>
          <a:lstStyle/>
          <a:p>
            <a:pPr indent="0" marL="0">
              <a:buNone/>
            </a:pPr>
            <a:r>
              <a:rPr lang="en-US" sz="1400" dirty="0">
                <a:solidFill>
                  <a:schemeClr val="bg2"/>
                </a:solidFill>
              </a:rPr>
              <a:t>DetectifAI checks the voice. Approve, hand to a human, or block, with reasons.</a:t>
            </a:r>
            <a:endParaRPr lang="en-US" sz="1400" dirty="0"/>
          </a:p>
        </p:txBody>
      </p:sp>
      <p:sp>
        <p:nvSpPr>
          <p:cNvPr id="19" name="step4"/>
          <p:cNvSpPr/>
          <p:nvPr/>
        </p:nvSpPr>
        <p:spPr>
          <a:xfrm>
            <a:off x="9107424" y="1965960"/>
            <a:ext cx="2606040" cy="2514600"/>
          </a:xfrm>
          <a:prstGeom prst="roundRect">
            <a:avLst>
              <a:gd name="adj" fmla="val 4364"/>
            </a:avLst>
          </a:prstGeom>
          <a:solidFill>
            <a:schemeClr val="tx2"/>
          </a:solidFill>
          <a:ln w="9525">
            <a:solidFill>
              <a:schemeClr val="accent6"/>
            </a:solidFill>
            <a:prstDash val="solid"/>
          </a:ln>
        </p:spPr>
      </p:sp>
      <p:sp>
        <p:nvSpPr>
          <p:cNvPr id="20" name="step4-dot"/>
          <p:cNvSpPr/>
          <p:nvPr/>
        </p:nvSpPr>
        <p:spPr>
          <a:xfrm>
            <a:off x="9381744" y="2240280"/>
            <a:ext cx="566928" cy="566928"/>
          </a:xfrm>
          <a:prstGeom prst="ellipse">
            <a:avLst/>
          </a:prstGeom>
          <a:solidFill>
            <a:schemeClr val="accent1"/>
          </a:solidFill>
          <a:ln w="12700">
            <a:solidFill>
              <a:schemeClr val="accent1"/>
            </a:solidFill>
            <a:prstDash val="solid"/>
          </a:ln>
        </p:spPr>
      </p:sp>
      <p:sp>
        <p:nvSpPr>
          <p:cNvPr id="21" name="Text 19"/>
          <p:cNvSpPr txBox="1"/>
          <p:nvPr/>
        </p:nvSpPr>
        <p:spPr>
          <a:xfrm>
            <a:off x="9381744" y="2240280"/>
            <a:ext cx="566928" cy="566928"/>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2" name="Text 20"/>
          <p:cNvSpPr txBox="1"/>
          <p:nvPr/>
        </p:nvSpPr>
        <p:spPr>
          <a:xfrm>
            <a:off x="9381744" y="2971800"/>
            <a:ext cx="2057400" cy="411480"/>
          </a:xfrm>
          <a:prstGeom prst="rect">
            <a:avLst/>
          </a:prstGeom>
          <a:noFill/>
          <a:ln/>
        </p:spPr>
        <p:txBody>
          <a:bodyPr wrap="square" lIns="0" tIns="0" rIns="0" bIns="0" rtlCol="0" anchor="ctr"/>
          <a:lstStyle/>
          <a:p>
            <a:pPr indent="0" marL="0">
              <a:buNone/>
            </a:pPr>
            <a:r>
              <a:rPr lang="en-US" sz="2000" b="1" dirty="0">
                <a:solidFill>
                  <a:schemeClr val="bg1"/>
                </a:solidFill>
              </a:rPr>
              <a:t>Alert</a:t>
            </a:r>
            <a:endParaRPr lang="en-US" sz="2000" dirty="0"/>
          </a:p>
        </p:txBody>
      </p:sp>
      <p:sp>
        <p:nvSpPr>
          <p:cNvPr id="23" name="Text 21"/>
          <p:cNvSpPr txBox="1"/>
          <p:nvPr/>
        </p:nvSpPr>
        <p:spPr>
          <a:xfrm>
            <a:off x="9381744" y="3429000"/>
            <a:ext cx="2103120" cy="960120"/>
          </a:xfrm>
          <a:prstGeom prst="rect">
            <a:avLst/>
          </a:prstGeom>
          <a:noFill/>
          <a:ln/>
        </p:spPr>
        <p:txBody>
          <a:bodyPr wrap="square" lIns="0" tIns="0" rIns="0" bIns="0" rtlCol="0" anchor="t"/>
          <a:lstStyle/>
          <a:p>
            <a:pPr indent="0" marL="0">
              <a:buNone/>
            </a:pPr>
            <a:r>
              <a:rPr lang="en-US" sz="1400" dirty="0">
                <a:solidFill>
                  <a:schemeClr val="bg2"/>
                </a:solidFill>
              </a:rPr>
              <a:t>The real customer gets “Was this you?” in the app and taps It was me / Not me.</a:t>
            </a:r>
            <a:endParaRPr lang="en-US" sz="1400" dirty="0"/>
          </a:p>
        </p:txBody>
      </p:sp>
      <p:sp>
        <p:nvSpPr>
          <p:cNvPr id="24" name="Text 22"/>
          <p:cNvSpPr txBox="1"/>
          <p:nvPr/>
        </p:nvSpPr>
        <p:spPr>
          <a:xfrm>
            <a:off x="548640" y="4892040"/>
            <a:ext cx="2103120" cy="457200"/>
          </a:xfrm>
          <a:prstGeom prst="rect">
            <a:avLst/>
          </a:prstGeom>
          <a:noFill/>
          <a:ln/>
        </p:spPr>
        <p:txBody>
          <a:bodyPr wrap="square" lIns="0" tIns="0" rIns="0" bIns="0" rtlCol="0" anchor="ctr"/>
          <a:lstStyle/>
          <a:p>
            <a:pPr indent="0" marL="0">
              <a:buNone/>
            </a:pPr>
            <a:r>
              <a:rPr lang="en-US" sz="1500" b="1" dirty="0">
                <a:solidFill>
                  <a:schemeClr val="bg2"/>
                </a:solidFill>
              </a:rPr>
              <a:t>Every outcome</a:t>
            </a:r>
            <a:endParaRPr lang="en-US" sz="1500" dirty="0"/>
          </a:p>
        </p:txBody>
      </p:sp>
      <p:sp>
        <p:nvSpPr>
          <p:cNvPr id="25" name="approve"/>
          <p:cNvSpPr/>
          <p:nvPr/>
        </p:nvSpPr>
        <p:spPr>
          <a:xfrm>
            <a:off x="2560320" y="4892040"/>
            <a:ext cx="2011680" cy="457200"/>
          </a:xfrm>
          <a:prstGeom prst="roundRect">
            <a:avLst>
              <a:gd name="adj" fmla="val 50000"/>
            </a:avLst>
          </a:prstGeom>
          <a:solidFill>
            <a:schemeClr val="accent2">
              <a:alpha val="18000"/>
            </a:schemeClr>
          </a:solidFill>
          <a:ln w="12700">
            <a:solidFill>
              <a:schemeClr val="accent2"/>
            </a:solidFill>
            <a:prstDash val="solid"/>
          </a:ln>
        </p:spPr>
      </p:sp>
      <p:sp>
        <p:nvSpPr>
          <p:cNvPr id="26" name="Text 24"/>
          <p:cNvSpPr txBox="1"/>
          <p:nvPr/>
        </p:nvSpPr>
        <p:spPr>
          <a:xfrm>
            <a:off x="2560320" y="4892040"/>
            <a:ext cx="2011680" cy="457200"/>
          </a:xfrm>
          <a:prstGeom prst="rect">
            <a:avLst/>
          </a:prstGeom>
          <a:noFill/>
          <a:ln/>
        </p:spPr>
        <p:txBody>
          <a:bodyPr wrap="square" lIns="0" tIns="0" rIns="0" bIns="0" rtlCol="0" anchor="ctr"/>
          <a:lstStyle/>
          <a:p>
            <a:pPr algn="ctr" indent="0" marL="0">
              <a:buNone/>
            </a:pPr>
            <a:r>
              <a:rPr lang="en-US" sz="1500" b="1" dirty="0">
                <a:solidFill>
                  <a:schemeClr val="accent2"/>
                </a:solidFill>
              </a:rPr>
              <a:t>Approve</a:t>
            </a:r>
            <a:endParaRPr lang="en-US" sz="1500" dirty="0"/>
          </a:p>
        </p:txBody>
      </p:sp>
      <p:sp>
        <p:nvSpPr>
          <p:cNvPr id="27" name="stepup"/>
          <p:cNvSpPr/>
          <p:nvPr/>
        </p:nvSpPr>
        <p:spPr>
          <a:xfrm>
            <a:off x="4754880" y="4892040"/>
            <a:ext cx="2651760" cy="457200"/>
          </a:xfrm>
          <a:prstGeom prst="roundRect">
            <a:avLst>
              <a:gd name="adj" fmla="val 50000"/>
            </a:avLst>
          </a:prstGeom>
          <a:solidFill>
            <a:schemeClr val="accent3">
              <a:alpha val="18000"/>
            </a:schemeClr>
          </a:solidFill>
          <a:ln w="12700">
            <a:solidFill>
              <a:schemeClr val="accent3"/>
            </a:solidFill>
            <a:prstDash val="solid"/>
          </a:ln>
        </p:spPr>
      </p:sp>
      <p:sp>
        <p:nvSpPr>
          <p:cNvPr id="28" name="Text 26"/>
          <p:cNvSpPr txBox="1"/>
          <p:nvPr/>
        </p:nvSpPr>
        <p:spPr>
          <a:xfrm>
            <a:off x="4754880" y="4892040"/>
            <a:ext cx="2651760" cy="457200"/>
          </a:xfrm>
          <a:prstGeom prst="rect">
            <a:avLst/>
          </a:prstGeom>
          <a:noFill/>
          <a:ln/>
        </p:spPr>
        <p:txBody>
          <a:bodyPr wrap="square" lIns="0" tIns="0" rIns="0" bIns="0" rtlCol="0" anchor="ctr"/>
          <a:lstStyle/>
          <a:p>
            <a:pPr algn="ctr" indent="0" marL="0">
              <a:buNone/>
            </a:pPr>
            <a:r>
              <a:rPr lang="en-US" sz="1500" b="1" dirty="0">
                <a:solidFill>
                  <a:schemeClr val="accent3"/>
                </a:solidFill>
              </a:rPr>
              <a:t>Hand to a human</a:t>
            </a:r>
            <a:endParaRPr lang="en-US" sz="1500" dirty="0"/>
          </a:p>
        </p:txBody>
      </p:sp>
      <p:sp>
        <p:nvSpPr>
          <p:cNvPr id="29" name="block"/>
          <p:cNvSpPr/>
          <p:nvPr/>
        </p:nvSpPr>
        <p:spPr>
          <a:xfrm>
            <a:off x="7589520" y="4892040"/>
            <a:ext cx="2011680" cy="457200"/>
          </a:xfrm>
          <a:prstGeom prst="roundRect">
            <a:avLst>
              <a:gd name="adj" fmla="val 50000"/>
            </a:avLst>
          </a:prstGeom>
          <a:solidFill>
            <a:schemeClr val="accent4">
              <a:alpha val="18000"/>
            </a:schemeClr>
          </a:solidFill>
          <a:ln w="12700">
            <a:solidFill>
              <a:schemeClr val="accent4"/>
            </a:solidFill>
            <a:prstDash val="solid"/>
          </a:ln>
        </p:spPr>
      </p:sp>
      <p:sp>
        <p:nvSpPr>
          <p:cNvPr id="30" name="Text 28"/>
          <p:cNvSpPr txBox="1"/>
          <p:nvPr/>
        </p:nvSpPr>
        <p:spPr>
          <a:xfrm>
            <a:off x="7589520" y="4892040"/>
            <a:ext cx="2011680" cy="457200"/>
          </a:xfrm>
          <a:prstGeom prst="rect">
            <a:avLst/>
          </a:prstGeom>
          <a:noFill/>
          <a:ln/>
        </p:spPr>
        <p:txBody>
          <a:bodyPr wrap="square" lIns="0" tIns="0" rIns="0" bIns="0" rtlCol="0" anchor="ctr"/>
          <a:lstStyle/>
          <a:p>
            <a:pPr algn="ctr" indent="0" marL="0">
              <a:buNone/>
            </a:pPr>
            <a:r>
              <a:rPr lang="en-US" sz="1500" b="1" dirty="0">
                <a:solidFill>
                  <a:schemeClr val="accent4"/>
                </a:solidFill>
              </a:rPr>
              <a:t>Block</a:t>
            </a:r>
            <a:endParaRPr lang="en-US" sz="1500" dirty="0"/>
          </a:p>
        </p:txBody>
      </p:sp>
      <p:sp>
        <p:nvSpPr>
          <p:cNvPr id="31" name="Text 29"/>
          <p:cNvSpPr txBox="1"/>
          <p:nvPr/>
        </p:nvSpPr>
        <p:spPr>
          <a:xfrm>
            <a:off x="548640" y="5623560"/>
            <a:ext cx="8229600" cy="365760"/>
          </a:xfrm>
          <a:prstGeom prst="rect">
            <a:avLst/>
          </a:prstGeom>
          <a:noFill/>
          <a:ln/>
        </p:spPr>
        <p:txBody>
          <a:bodyPr wrap="square" lIns="0" tIns="0" rIns="0" bIns="0" rtlCol="0" anchor="ctr"/>
          <a:lstStyle/>
          <a:p>
            <a:pPr indent="0" marL="0">
              <a:buNone/>
            </a:pPr>
            <a:r>
              <a:rPr lang="en-US" sz="1400" i="1" dirty="0">
                <a:solidFill>
                  <a:schemeClr val="bg2"/>
                </a:solidFill>
              </a:rPr>
              <a:t>No forms, no OTP. The customer just talks.</a:t>
            </a:r>
            <a:endParaRPr lang="en-US" sz="14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DETECTIFAI</a:t>
            </a:r>
            <a:endParaRPr lang="en-US" sz="1300" dirty="0"/>
          </a:p>
        </p:txBody>
      </p:sp>
      <p:sp>
        <p:nvSpPr>
          <p:cNvPr id="3" name="title"/>
          <p:cNvSpPr txBox="1"/>
          <p:nvPr/>
        </p:nvSpPr>
        <p:spPr>
          <a:xfrm>
            <a:off x="548640" y="822960"/>
            <a:ext cx="11064240" cy="777240"/>
          </a:xfrm>
          <a:prstGeom prst="rect">
            <a:avLst/>
          </a:prstGeom>
          <a:noFill/>
          <a:ln/>
        </p:spPr>
        <p:txBody>
          <a:bodyPr wrap="square" lIns="0" tIns="0" rIns="0" bIns="0" rtlCol="0" anchor="t"/>
          <a:lstStyle/>
          <a:p>
            <a:pPr indent="0" marL="0">
              <a:buNone/>
            </a:pPr>
            <a:r>
              <a:rPr lang="en-US" sz="3400" b="1" dirty="0">
                <a:solidFill>
                  <a:schemeClr val="bg1"/>
                </a:solidFill>
              </a:rPr>
              <a:t>Take DetectifAI out and nothing gets decided</a:t>
            </a:r>
            <a:endParaRPr lang="en-US" sz="3400" dirty="0"/>
          </a:p>
        </p:txBody>
      </p:sp>
      <p:sp>
        <p:nvSpPr>
          <p:cNvPr id="4" name="q0"/>
          <p:cNvSpPr/>
          <p:nvPr/>
        </p:nvSpPr>
        <p:spPr>
          <a:xfrm>
            <a:off x="548640" y="1920240"/>
            <a:ext cx="5120640" cy="1234440"/>
          </a:xfrm>
          <a:prstGeom prst="roundRect">
            <a:avLst>
              <a:gd name="adj" fmla="val 8889"/>
            </a:avLst>
          </a:prstGeom>
          <a:solidFill>
            <a:schemeClr val="tx2"/>
          </a:solidFill>
          <a:ln w="9525">
            <a:solidFill>
              <a:schemeClr val="accent6"/>
            </a:solidFill>
            <a:prstDash val="solid"/>
          </a:ln>
        </p:spPr>
      </p:sp>
      <p:sp>
        <p:nvSpPr>
          <p:cNvPr id="5" name="Text 3"/>
          <p:cNvSpPr txBox="1"/>
          <p:nvPr/>
        </p:nvSpPr>
        <p:spPr>
          <a:xfrm>
            <a:off x="822960" y="2084832"/>
            <a:ext cx="4572000" cy="411480"/>
          </a:xfrm>
          <a:prstGeom prst="rect">
            <a:avLst/>
          </a:prstGeom>
          <a:noFill/>
          <a:ln/>
        </p:spPr>
        <p:txBody>
          <a:bodyPr wrap="square" lIns="0" tIns="0" rIns="0" bIns="0" rtlCol="0" anchor="ctr"/>
          <a:lstStyle/>
          <a:p>
            <a:pPr indent="0" marL="0">
              <a:buNone/>
            </a:pPr>
            <a:r>
              <a:rPr lang="en-US" sz="2000" b="1" dirty="0">
                <a:solidFill>
                  <a:schemeClr val="accent1"/>
                </a:solidFill>
              </a:rPr>
              <a:t>Is it them?</a:t>
            </a:r>
            <a:endParaRPr lang="en-US" sz="2000" dirty="0"/>
          </a:p>
        </p:txBody>
      </p:sp>
      <p:sp>
        <p:nvSpPr>
          <p:cNvPr id="6" name="Text 4"/>
          <p:cNvSpPr txBox="1"/>
          <p:nvPr/>
        </p:nvSpPr>
        <p:spPr>
          <a:xfrm>
            <a:off x="822960" y="2487168"/>
            <a:ext cx="4572000" cy="274320"/>
          </a:xfrm>
          <a:prstGeom prst="rect">
            <a:avLst/>
          </a:prstGeom>
          <a:noFill/>
          <a:ln/>
        </p:spPr>
        <p:txBody>
          <a:bodyPr wrap="square" lIns="0" tIns="0" rIns="0" bIns="0" rtlCol="0" anchor="ctr"/>
          <a:lstStyle/>
          <a:p>
            <a:pPr indent="0" marL="0">
              <a:buNone/>
            </a:pPr>
            <a:r>
              <a:rPr lang="en-US" sz="1300" b="1" dirty="0">
                <a:solidFill>
                  <a:schemeClr val="bg1"/>
                </a:solidFill>
              </a:rPr>
              <a:t>Speaker Verification</a:t>
            </a:r>
            <a:endParaRPr lang="en-US" sz="1300" dirty="0"/>
          </a:p>
        </p:txBody>
      </p:sp>
      <p:sp>
        <p:nvSpPr>
          <p:cNvPr id="7" name="Text 5"/>
          <p:cNvSpPr txBox="1"/>
          <p:nvPr/>
        </p:nvSpPr>
        <p:spPr>
          <a:xfrm>
            <a:off x="822960" y="2761488"/>
            <a:ext cx="4663440" cy="274320"/>
          </a:xfrm>
          <a:prstGeom prst="rect">
            <a:avLst/>
          </a:prstGeom>
          <a:noFill/>
          <a:ln/>
        </p:spPr>
        <p:txBody>
          <a:bodyPr wrap="square" lIns="0" tIns="0" rIns="0" bIns="0" rtlCol="0" anchor="ctr"/>
          <a:lstStyle/>
          <a:p>
            <a:pPr indent="0" marL="0">
              <a:buNone/>
            </a:pPr>
            <a:r>
              <a:rPr lang="en-US" sz="1200" dirty="0">
                <a:solidFill>
                  <a:schemeClr val="bg2"/>
                </a:solidFill>
              </a:rPr>
              <a:t>Voiceprint from enrollment vs the spoken passphrase.</a:t>
            </a:r>
            <a:endParaRPr lang="en-US" sz="1200" dirty="0"/>
          </a:p>
        </p:txBody>
      </p:sp>
      <p:sp>
        <p:nvSpPr>
          <p:cNvPr id="8" name="q1"/>
          <p:cNvSpPr/>
          <p:nvPr/>
        </p:nvSpPr>
        <p:spPr>
          <a:xfrm>
            <a:off x="548640" y="3383280"/>
            <a:ext cx="5120640" cy="1234440"/>
          </a:xfrm>
          <a:prstGeom prst="roundRect">
            <a:avLst>
              <a:gd name="adj" fmla="val 8889"/>
            </a:avLst>
          </a:prstGeom>
          <a:solidFill>
            <a:schemeClr val="tx2"/>
          </a:solidFill>
          <a:ln w="9525">
            <a:solidFill>
              <a:schemeClr val="accent6"/>
            </a:solidFill>
            <a:prstDash val="solid"/>
          </a:ln>
        </p:spPr>
      </p:sp>
      <p:sp>
        <p:nvSpPr>
          <p:cNvPr id="9" name="Text 7"/>
          <p:cNvSpPr txBox="1"/>
          <p:nvPr/>
        </p:nvSpPr>
        <p:spPr>
          <a:xfrm>
            <a:off x="822960" y="3547872"/>
            <a:ext cx="4572000" cy="411480"/>
          </a:xfrm>
          <a:prstGeom prst="rect">
            <a:avLst/>
          </a:prstGeom>
          <a:noFill/>
          <a:ln/>
        </p:spPr>
        <p:txBody>
          <a:bodyPr wrap="square" lIns="0" tIns="0" rIns="0" bIns="0" rtlCol="0" anchor="ctr"/>
          <a:lstStyle/>
          <a:p>
            <a:pPr indent="0" marL="0">
              <a:buNone/>
            </a:pPr>
            <a:r>
              <a:rPr lang="en-US" sz="2000" b="1" dirty="0">
                <a:solidFill>
                  <a:schemeClr val="accent1"/>
                </a:solidFill>
              </a:rPr>
              <a:t>Is it real?</a:t>
            </a:r>
            <a:endParaRPr lang="en-US" sz="2000" dirty="0"/>
          </a:p>
        </p:txBody>
      </p:sp>
      <p:sp>
        <p:nvSpPr>
          <p:cNvPr id="10" name="Text 8"/>
          <p:cNvSpPr txBox="1"/>
          <p:nvPr/>
        </p:nvSpPr>
        <p:spPr>
          <a:xfrm>
            <a:off x="822960" y="3950208"/>
            <a:ext cx="4572000" cy="274320"/>
          </a:xfrm>
          <a:prstGeom prst="rect">
            <a:avLst/>
          </a:prstGeom>
          <a:noFill/>
          <a:ln/>
        </p:spPr>
        <p:txBody>
          <a:bodyPr wrap="square" lIns="0" tIns="0" rIns="0" bIns="0" rtlCol="0" anchor="ctr"/>
          <a:lstStyle/>
          <a:p>
            <a:pPr indent="0" marL="0">
              <a:buNone/>
            </a:pPr>
            <a:r>
              <a:rPr lang="en-US" sz="1300" b="1" dirty="0">
                <a:solidFill>
                  <a:schemeClr val="bg1"/>
                </a:solidFill>
              </a:rPr>
              <a:t>Deepfake Detection</a:t>
            </a:r>
            <a:endParaRPr lang="en-US" sz="1300" dirty="0"/>
          </a:p>
        </p:txBody>
      </p:sp>
      <p:sp>
        <p:nvSpPr>
          <p:cNvPr id="11" name="Text 9"/>
          <p:cNvSpPr txBox="1"/>
          <p:nvPr/>
        </p:nvSpPr>
        <p:spPr>
          <a:xfrm>
            <a:off x="822960" y="4224528"/>
            <a:ext cx="4663440" cy="274320"/>
          </a:xfrm>
          <a:prstGeom prst="rect">
            <a:avLst/>
          </a:prstGeom>
          <a:noFill/>
          <a:ln/>
        </p:spPr>
        <p:txBody>
          <a:bodyPr wrap="square" lIns="0" tIns="0" rIns="0" bIns="0" rtlCol="0" anchor="ctr"/>
          <a:lstStyle/>
          <a:p>
            <a:pPr indent="0" marL="0">
              <a:buNone/>
            </a:pPr>
            <a:r>
              <a:rPr lang="en-US" sz="1200" dirty="0">
                <a:solidFill>
                  <a:schemeClr val="bg2"/>
                </a:solidFill>
              </a:rPr>
              <a:t>Synthetic-speech check on the same live call audio.</a:t>
            </a:r>
            <a:endParaRPr lang="en-US" sz="1200" dirty="0"/>
          </a:p>
        </p:txBody>
      </p:sp>
      <p:sp>
        <p:nvSpPr>
          <p:cNvPr id="12" name="Text 10"/>
          <p:cNvSpPr txBox="1"/>
          <p:nvPr/>
        </p:nvSpPr>
        <p:spPr>
          <a:xfrm>
            <a:off x="6172200" y="1920240"/>
            <a:ext cx="5486400" cy="365760"/>
          </a:xfrm>
          <a:prstGeom prst="rect">
            <a:avLst/>
          </a:prstGeom>
          <a:noFill/>
          <a:ln/>
        </p:spPr>
        <p:txBody>
          <a:bodyPr wrap="square" lIns="0" tIns="0" rIns="0" bIns="0" rtlCol="0" anchor="ctr"/>
          <a:lstStyle/>
          <a:p>
            <a:pPr indent="0" marL="0">
              <a:buNone/>
            </a:pPr>
            <a:r>
              <a:rPr lang="en-US" sz="1500" b="1" dirty="0">
                <a:solidFill>
                  <a:schemeClr val="bg2"/>
                </a:solidFill>
              </a:rPr>
              <a:t>Decision rules</a:t>
            </a:r>
            <a:endParaRPr lang="en-US" sz="1500" dirty="0"/>
          </a:p>
        </p:txBody>
      </p:sp>
      <p:sp>
        <p:nvSpPr>
          <p:cNvPr id="13" name="Text 11"/>
          <p:cNvSpPr txBox="1"/>
          <p:nvPr/>
        </p:nvSpPr>
        <p:spPr>
          <a:xfrm>
            <a:off x="6172200" y="2377440"/>
            <a:ext cx="2743200" cy="411480"/>
          </a:xfrm>
          <a:prstGeom prst="rect">
            <a:avLst/>
          </a:prstGeom>
          <a:noFill/>
          <a:ln/>
        </p:spPr>
        <p:txBody>
          <a:bodyPr wrap="square" lIns="0" tIns="0" rIns="0" bIns="0" rtlCol="0" anchor="ctr"/>
          <a:lstStyle/>
          <a:p>
            <a:pPr indent="0" marL="0">
              <a:buNone/>
            </a:pPr>
            <a:r>
              <a:rPr lang="en-US" sz="1500" dirty="0">
                <a:solidFill>
                  <a:schemeClr val="bg1"/>
                </a:solidFill>
              </a:rPr>
              <a:t>Synthetic voice</a:t>
            </a:r>
            <a:endParaRPr lang="en-US" sz="1500" dirty="0"/>
          </a:p>
        </p:txBody>
      </p:sp>
      <p:sp>
        <p:nvSpPr>
          <p:cNvPr id="14" name="Text 12"/>
          <p:cNvSpPr txBox="1"/>
          <p:nvPr/>
        </p:nvSpPr>
        <p:spPr>
          <a:xfrm>
            <a:off x="8961120" y="2377440"/>
            <a:ext cx="2651760" cy="411480"/>
          </a:xfrm>
          <a:prstGeom prst="rect">
            <a:avLst/>
          </a:prstGeom>
          <a:noFill/>
          <a:ln/>
        </p:spPr>
        <p:txBody>
          <a:bodyPr wrap="square" lIns="0" tIns="0" rIns="0" bIns="0" rtlCol="0" anchor="ctr"/>
          <a:lstStyle/>
          <a:p>
            <a:pPr indent="0" marL="0">
              <a:buNone/>
            </a:pPr>
            <a:r>
              <a:rPr lang="en-US" sz="1500" b="1" dirty="0">
                <a:solidFill>
                  <a:schemeClr val="accent4"/>
                </a:solidFill>
              </a:rPr>
              <a:t>Block, always</a:t>
            </a:r>
            <a:endParaRPr lang="en-US" sz="1500" dirty="0"/>
          </a:p>
        </p:txBody>
      </p:sp>
      <p:sp>
        <p:nvSpPr>
          <p:cNvPr id="15" name="Text 13"/>
          <p:cNvSpPr txBox="1"/>
          <p:nvPr/>
        </p:nvSpPr>
        <p:spPr>
          <a:xfrm>
            <a:off x="6172200" y="2880360"/>
            <a:ext cx="2743200" cy="411480"/>
          </a:xfrm>
          <a:prstGeom prst="rect">
            <a:avLst/>
          </a:prstGeom>
          <a:noFill/>
          <a:ln/>
        </p:spPr>
        <p:txBody>
          <a:bodyPr wrap="square" lIns="0" tIns="0" rIns="0" bIns="0" rtlCol="0" anchor="ctr"/>
          <a:lstStyle/>
          <a:p>
            <a:pPr indent="0" marL="0">
              <a:buNone/>
            </a:pPr>
            <a:r>
              <a:rPr lang="en-US" sz="1500" dirty="0">
                <a:solidFill>
                  <a:schemeClr val="bg1"/>
                </a:solidFill>
              </a:rPr>
              <a:t>Not the customer</a:t>
            </a:r>
            <a:endParaRPr lang="en-US" sz="1500" dirty="0"/>
          </a:p>
        </p:txBody>
      </p:sp>
      <p:sp>
        <p:nvSpPr>
          <p:cNvPr id="16" name="Text 14"/>
          <p:cNvSpPr txBox="1"/>
          <p:nvPr/>
        </p:nvSpPr>
        <p:spPr>
          <a:xfrm>
            <a:off x="8961120" y="2880360"/>
            <a:ext cx="2651760" cy="411480"/>
          </a:xfrm>
          <a:prstGeom prst="rect">
            <a:avLst/>
          </a:prstGeom>
          <a:noFill/>
          <a:ln/>
        </p:spPr>
        <p:txBody>
          <a:bodyPr wrap="square" lIns="0" tIns="0" rIns="0" bIns="0" rtlCol="0" anchor="ctr"/>
          <a:lstStyle/>
          <a:p>
            <a:pPr indent="0" marL="0">
              <a:buNone/>
            </a:pPr>
            <a:r>
              <a:rPr lang="en-US" sz="1500" b="1" dirty="0">
                <a:solidFill>
                  <a:schemeClr val="accent4"/>
                </a:solidFill>
              </a:rPr>
              <a:t>Block or human</a:t>
            </a:r>
            <a:endParaRPr lang="en-US" sz="1500" dirty="0"/>
          </a:p>
        </p:txBody>
      </p:sp>
      <p:sp>
        <p:nvSpPr>
          <p:cNvPr id="17" name="Text 15"/>
          <p:cNvSpPr txBox="1"/>
          <p:nvPr/>
        </p:nvSpPr>
        <p:spPr>
          <a:xfrm>
            <a:off x="6172200" y="3383280"/>
            <a:ext cx="2743200" cy="411480"/>
          </a:xfrm>
          <a:prstGeom prst="rect">
            <a:avLst/>
          </a:prstGeom>
          <a:noFill/>
          <a:ln/>
        </p:spPr>
        <p:txBody>
          <a:bodyPr wrap="square" lIns="0" tIns="0" rIns="0" bIns="0" rtlCol="0" anchor="ctr"/>
          <a:lstStyle/>
          <a:p>
            <a:pPr indent="0" marL="0">
              <a:buNone/>
            </a:pPr>
            <a:r>
              <a:rPr lang="en-US" sz="1500" dirty="0">
                <a:solidFill>
                  <a:schemeClr val="bg1"/>
                </a:solidFill>
              </a:rPr>
              <a:t>Unsure, or no result</a:t>
            </a:r>
            <a:endParaRPr lang="en-US" sz="1500" dirty="0"/>
          </a:p>
        </p:txBody>
      </p:sp>
      <p:sp>
        <p:nvSpPr>
          <p:cNvPr id="18" name="Text 16"/>
          <p:cNvSpPr txBox="1"/>
          <p:nvPr/>
        </p:nvSpPr>
        <p:spPr>
          <a:xfrm>
            <a:off x="8961120" y="3383280"/>
            <a:ext cx="2651760" cy="411480"/>
          </a:xfrm>
          <a:prstGeom prst="rect">
            <a:avLst/>
          </a:prstGeom>
          <a:noFill/>
          <a:ln/>
        </p:spPr>
        <p:txBody>
          <a:bodyPr wrap="square" lIns="0" tIns="0" rIns="0" bIns="0" rtlCol="0" anchor="ctr"/>
          <a:lstStyle/>
          <a:p>
            <a:pPr indent="0" marL="0">
              <a:buNone/>
            </a:pPr>
            <a:r>
              <a:rPr lang="en-US" sz="1500" b="1" dirty="0">
                <a:solidFill>
                  <a:schemeClr val="accent3"/>
                </a:solidFill>
              </a:rPr>
              <a:t>Human (fails closed)</a:t>
            </a:r>
            <a:endParaRPr lang="en-US" sz="1500" dirty="0"/>
          </a:p>
        </p:txBody>
      </p:sp>
      <p:sp>
        <p:nvSpPr>
          <p:cNvPr id="19" name="Text 17"/>
          <p:cNvSpPr txBox="1"/>
          <p:nvPr/>
        </p:nvSpPr>
        <p:spPr>
          <a:xfrm>
            <a:off x="6172200" y="3886200"/>
            <a:ext cx="2743200" cy="411480"/>
          </a:xfrm>
          <a:prstGeom prst="rect">
            <a:avLst/>
          </a:prstGeom>
          <a:noFill/>
          <a:ln/>
        </p:spPr>
        <p:txBody>
          <a:bodyPr wrap="square" lIns="0" tIns="0" rIns="0" bIns="0" rtlCol="0" anchor="ctr"/>
          <a:lstStyle/>
          <a:p>
            <a:pPr indent="0" marL="0">
              <a:buNone/>
            </a:pPr>
            <a:r>
              <a:rPr lang="en-US" sz="1500" dirty="0">
                <a:solidFill>
                  <a:schemeClr val="bg1"/>
                </a:solidFill>
              </a:rPr>
              <a:t>Real and a match</a:t>
            </a:r>
            <a:endParaRPr lang="en-US" sz="1500" dirty="0"/>
          </a:p>
        </p:txBody>
      </p:sp>
      <p:sp>
        <p:nvSpPr>
          <p:cNvPr id="20" name="Text 18"/>
          <p:cNvSpPr txBox="1"/>
          <p:nvPr/>
        </p:nvSpPr>
        <p:spPr>
          <a:xfrm>
            <a:off x="8961120" y="3886200"/>
            <a:ext cx="2651760" cy="411480"/>
          </a:xfrm>
          <a:prstGeom prst="rect">
            <a:avLst/>
          </a:prstGeom>
          <a:noFill/>
          <a:ln/>
        </p:spPr>
        <p:txBody>
          <a:bodyPr wrap="square" lIns="0" tIns="0" rIns="0" bIns="0" rtlCol="0" anchor="ctr"/>
          <a:lstStyle/>
          <a:p>
            <a:pPr indent="0" marL="0">
              <a:buNone/>
            </a:pPr>
            <a:r>
              <a:rPr lang="en-US" sz="1500" b="1" dirty="0">
                <a:solidFill>
                  <a:schemeClr val="accent2"/>
                </a:solidFill>
              </a:rPr>
              <a:t>Approve</a:t>
            </a:r>
            <a:endParaRPr lang="en-US" sz="1500" dirty="0"/>
          </a:p>
        </p:txBody>
      </p:sp>
      <p:sp>
        <p:nvSpPr>
          <p:cNvPr id="21" name="Text 19"/>
          <p:cNvSpPr txBox="1"/>
          <p:nvPr/>
        </p:nvSpPr>
        <p:spPr>
          <a:xfrm>
            <a:off x="6172200" y="4480560"/>
            <a:ext cx="5440680" cy="457200"/>
          </a:xfrm>
          <a:prstGeom prst="rect">
            <a:avLst/>
          </a:prstGeom>
          <a:noFill/>
          <a:ln/>
        </p:spPr>
        <p:txBody>
          <a:bodyPr wrap="square" lIns="0" tIns="0" rIns="0" bIns="0" rtlCol="0" anchor="ctr"/>
          <a:lstStyle/>
          <a:p>
            <a:pPr indent="0" marL="0">
              <a:buNone/>
            </a:pPr>
            <a:r>
              <a:rPr lang="en-US" sz="1300" i="1" dirty="0">
                <a:solidFill>
                  <a:schemeClr val="bg2"/>
                </a:solidFill>
              </a:rPr>
              <a:t>Every “It was me / Not me” is sent back to DetectifAI as feedback.</a:t>
            </a:r>
            <a:endParaRPr lang="en-US" sz="1300" dirty="0"/>
          </a:p>
        </p:txBody>
      </p:sp>
      <p:sp>
        <p:nvSpPr>
          <p:cNvPr id="22" name="live"/>
          <p:cNvSpPr/>
          <p:nvPr/>
        </p:nvSpPr>
        <p:spPr>
          <a:xfrm>
            <a:off x="548640" y="4983480"/>
            <a:ext cx="11064240" cy="1051560"/>
          </a:xfrm>
          <a:prstGeom prst="roundRect">
            <a:avLst>
              <a:gd name="adj" fmla="val 10435"/>
            </a:avLst>
          </a:prstGeom>
          <a:solidFill>
            <a:schemeClr val="tx2"/>
          </a:solidFill>
          <a:ln w="9525">
            <a:solidFill>
              <a:schemeClr val="accent6"/>
            </a:solidFill>
            <a:prstDash val="solid"/>
          </a:ln>
        </p:spPr>
      </p:sp>
      <p:sp>
        <p:nvSpPr>
          <p:cNvPr id="23" name="Text 21"/>
          <p:cNvSpPr txBox="1"/>
          <p:nvPr/>
        </p:nvSpPr>
        <p:spPr>
          <a:xfrm>
            <a:off x="822960" y="5120640"/>
            <a:ext cx="201168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LIVE TODAY</a:t>
            </a:r>
            <a:endParaRPr lang="en-US" sz="1200" dirty="0"/>
          </a:p>
        </p:txBody>
      </p:sp>
      <p:sp>
        <p:nvSpPr>
          <p:cNvPr id="24" name="Text 22"/>
          <p:cNvSpPr txBox="1"/>
          <p:nvPr/>
        </p:nvSpPr>
        <p:spPr>
          <a:xfrm>
            <a:off x="822960" y="5440680"/>
            <a:ext cx="10607040" cy="411480"/>
          </a:xfrm>
          <a:prstGeom prst="rect">
            <a:avLst/>
          </a:prstGeom>
          <a:noFill/>
          <a:ln/>
        </p:spPr>
        <p:txBody>
          <a:bodyPr wrap="square" lIns="0" tIns="0" rIns="0" bIns="0" rtlCol="0" anchor="ctr"/>
          <a:lstStyle/>
          <a:p>
            <a:pPr indent="0" marL="0">
              <a:buNone/>
            </a:pPr>
            <a:r>
              <a:rPr lang="en-US" sz="1700" b="1" dirty="0">
                <a:solidFill>
                  <a:schemeClr val="bg1"/>
                </a:solidFill>
              </a:rPr>
              <a:t>Real customer: </a:t>
            </a:r>
            <a:pPr indent="0" marL="0">
              <a:buNone/>
            </a:pPr>
            <a:r>
              <a:rPr lang="en-US" sz="1700" dirty="0">
                <a:solidFill>
                  <a:schemeClr val="accent2"/>
                </a:solidFill>
              </a:rPr>
              <a:t>voice match 0.83–0.89 → Approved</a:t>
            </a:r>
            <a:pPr indent="0" marL="0">
              <a:buNone/>
            </a:pPr>
            <a:r>
              <a:rPr lang="en-US" sz="1700" b="1" dirty="0">
                <a:solidFill>
                  <a:schemeClr val="bg1"/>
                </a:solidFill>
              </a:rPr>
              <a:t>     Clone: </a:t>
            </a:r>
            <a:pPr indent="0" marL="0">
              <a:buNone/>
            </a:pPr>
            <a:r>
              <a:rPr lang="en-US" sz="1700" dirty="0">
                <a:solidFill>
                  <a:schemeClr val="accent4"/>
                </a:solidFill>
              </a:rPr>
              <a:t>deepfake 0.999 → Blocked</a:t>
            </a:r>
            <a:endParaRPr lang="en-US" sz="17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IMPACT</a:t>
            </a:r>
            <a:endParaRPr lang="en-US" sz="1300" dirty="0"/>
          </a:p>
        </p:txBody>
      </p:sp>
      <p:sp>
        <p:nvSpPr>
          <p:cNvPr id="3" name="title"/>
          <p:cNvSpPr txBox="1"/>
          <p:nvPr/>
        </p:nvSpPr>
        <p:spPr>
          <a:xfrm>
            <a:off x="548640" y="822960"/>
            <a:ext cx="11064240" cy="777240"/>
          </a:xfrm>
          <a:prstGeom prst="rect">
            <a:avLst/>
          </a:prstGeom>
          <a:noFill/>
          <a:ln/>
        </p:spPr>
        <p:txBody>
          <a:bodyPr wrap="square" lIns="0" tIns="0" rIns="0" bIns="0" rtlCol="0" anchor="t"/>
          <a:lstStyle/>
          <a:p>
            <a:pPr indent="0" marL="0">
              <a:buNone/>
            </a:pPr>
            <a:r>
              <a:rPr lang="en-US" sz="3400" b="1" dirty="0">
                <a:solidFill>
                  <a:schemeClr val="bg1"/>
                </a:solidFill>
              </a:rPr>
              <a:t>We close the helpline door</a:t>
            </a:r>
            <a:endParaRPr lang="en-US" sz="3400" dirty="0"/>
          </a:p>
        </p:txBody>
      </p:sp>
      <p:sp>
        <p:nvSpPr>
          <p:cNvPr id="4" name="Text 2"/>
          <p:cNvSpPr txBox="1"/>
          <p:nvPr/>
        </p:nvSpPr>
        <p:spPr>
          <a:xfrm>
            <a:off x="548640" y="1828800"/>
            <a:ext cx="6035040" cy="1280160"/>
          </a:xfrm>
          <a:prstGeom prst="rect">
            <a:avLst/>
          </a:prstGeom>
          <a:noFill/>
          <a:ln/>
        </p:spPr>
        <p:txBody>
          <a:bodyPr wrap="square" lIns="0" tIns="0" rIns="0" bIns="0" rtlCol="0" anchor="ctr"/>
          <a:lstStyle/>
          <a:p>
            <a:pPr indent="0" marL="0">
              <a:buNone/>
            </a:pPr>
            <a:r>
              <a:rPr lang="en-US" sz="7200" b="1" dirty="0">
                <a:solidFill>
                  <a:schemeClr val="accent1"/>
                </a:solidFill>
              </a:rPr>
              <a:t>₹22,845 cr</a:t>
            </a:r>
            <a:endParaRPr lang="en-US" sz="7200" dirty="0"/>
          </a:p>
        </p:txBody>
      </p:sp>
      <p:sp>
        <p:nvSpPr>
          <p:cNvPr id="5" name="Text 3"/>
          <p:cNvSpPr txBox="1"/>
          <p:nvPr/>
        </p:nvSpPr>
        <p:spPr>
          <a:xfrm>
            <a:off x="548640" y="3108960"/>
            <a:ext cx="5669280" cy="685800"/>
          </a:xfrm>
          <a:prstGeom prst="rect">
            <a:avLst/>
          </a:prstGeom>
          <a:noFill/>
          <a:ln/>
        </p:spPr>
        <p:txBody>
          <a:bodyPr wrap="square" lIns="0" tIns="0" rIns="0" bIns="0" rtlCol="0" anchor="t"/>
          <a:lstStyle/>
          <a:p>
            <a:pPr indent="0" marL="0">
              <a:buNone/>
            </a:pPr>
            <a:r>
              <a:rPr lang="en-US" sz="1800" dirty="0">
                <a:solidFill>
                  <a:schemeClr val="bg1"/>
                </a:solidFill>
              </a:rPr>
              <a:t>lost to cyber fraud in India in 2024, about 3× the year before.</a:t>
            </a:r>
            <a:endParaRPr lang="en-US" sz="1800" dirty="0"/>
          </a:p>
        </p:txBody>
      </p:sp>
      <p:sp>
        <p:nvSpPr>
          <p:cNvPr id="6" name="Text 4"/>
          <p:cNvSpPr txBox="1"/>
          <p:nvPr/>
        </p:nvSpPr>
        <p:spPr>
          <a:xfrm>
            <a:off x="548640" y="3794760"/>
            <a:ext cx="5486400" cy="320040"/>
          </a:xfrm>
          <a:prstGeom prst="rect">
            <a:avLst/>
          </a:prstGeom>
          <a:noFill/>
          <a:ln/>
        </p:spPr>
        <p:txBody>
          <a:bodyPr wrap="square" lIns="0" tIns="0" rIns="0" bIns="0" rtlCol="0" anchor="ctr"/>
          <a:lstStyle/>
          <a:p>
            <a:pPr indent="0" marL="0">
              <a:buNone/>
            </a:pPr>
            <a:r>
              <a:rPr lang="en-US" sz="1000" dirty="0">
                <a:solidFill>
                  <a:schemeClr val="bg2"/>
                </a:solidFill>
              </a:rPr>
              <a:t>Ministry of Home Affairs, Lok Sabha, Jul 2025</a:t>
            </a:r>
            <a:endParaRPr lang="en-US" sz="1000" dirty="0"/>
          </a:p>
        </p:txBody>
      </p:sp>
      <p:sp>
        <p:nvSpPr>
          <p:cNvPr id="7" name="Text 5"/>
          <p:cNvSpPr txBox="1"/>
          <p:nvPr/>
        </p:nvSpPr>
        <p:spPr>
          <a:xfrm>
            <a:off x="548640" y="4343400"/>
            <a:ext cx="1463040" cy="548640"/>
          </a:xfrm>
          <a:prstGeom prst="rect">
            <a:avLst/>
          </a:prstGeom>
          <a:noFill/>
          <a:ln/>
        </p:spPr>
        <p:txBody>
          <a:bodyPr wrap="square" lIns="0" tIns="0" rIns="0" bIns="0" rtlCol="0" anchor="t"/>
          <a:lstStyle/>
          <a:p>
            <a:pPr indent="0" marL="0">
              <a:buNone/>
            </a:pPr>
            <a:r>
              <a:rPr lang="en-US" sz="1500" b="1" dirty="0">
                <a:solidFill>
                  <a:schemeClr val="accent1"/>
                </a:solidFill>
              </a:rPr>
              <a:t>Customer</a:t>
            </a:r>
            <a:endParaRPr lang="en-US" sz="1500" dirty="0"/>
          </a:p>
        </p:txBody>
      </p:sp>
      <p:sp>
        <p:nvSpPr>
          <p:cNvPr id="8" name="Text 6"/>
          <p:cNvSpPr txBox="1"/>
          <p:nvPr/>
        </p:nvSpPr>
        <p:spPr>
          <a:xfrm>
            <a:off x="2011680" y="4343400"/>
            <a:ext cx="4480560" cy="594360"/>
          </a:xfrm>
          <a:prstGeom prst="rect">
            <a:avLst/>
          </a:prstGeom>
          <a:noFill/>
          <a:ln/>
        </p:spPr>
        <p:txBody>
          <a:bodyPr wrap="square" lIns="0" tIns="0" rIns="0" bIns="0" rtlCol="0" anchor="t"/>
          <a:lstStyle/>
          <a:p>
            <a:pPr indent="0" marL="0">
              <a:buNone/>
            </a:pPr>
            <a:r>
              <a:rPr lang="en-US" sz="1500" dirty="0">
                <a:solidFill>
                  <a:schemeClr val="bg1"/>
                </a:solidFill>
              </a:rPr>
              <a:t>The transfer or SIM reset never happens, and they know within seconds.</a:t>
            </a:r>
            <a:endParaRPr lang="en-US" sz="1500" dirty="0"/>
          </a:p>
        </p:txBody>
      </p:sp>
      <p:sp>
        <p:nvSpPr>
          <p:cNvPr id="9" name="Text 7"/>
          <p:cNvSpPr txBox="1"/>
          <p:nvPr/>
        </p:nvSpPr>
        <p:spPr>
          <a:xfrm>
            <a:off x="548640" y="5029200"/>
            <a:ext cx="1463040" cy="548640"/>
          </a:xfrm>
          <a:prstGeom prst="rect">
            <a:avLst/>
          </a:prstGeom>
          <a:noFill/>
          <a:ln/>
        </p:spPr>
        <p:txBody>
          <a:bodyPr wrap="square" lIns="0" tIns="0" rIns="0" bIns="0" rtlCol="0" anchor="t"/>
          <a:lstStyle/>
          <a:p>
            <a:pPr indent="0" marL="0">
              <a:buNone/>
            </a:pPr>
            <a:r>
              <a:rPr lang="en-US" sz="1500" b="1" dirty="0">
                <a:solidFill>
                  <a:schemeClr val="accent1"/>
                </a:solidFill>
              </a:rPr>
              <a:t>Bank</a:t>
            </a:r>
            <a:endParaRPr lang="en-US" sz="1500" dirty="0"/>
          </a:p>
        </p:txBody>
      </p:sp>
      <p:sp>
        <p:nvSpPr>
          <p:cNvPr id="10" name="Text 8"/>
          <p:cNvSpPr txBox="1"/>
          <p:nvPr/>
        </p:nvSpPr>
        <p:spPr>
          <a:xfrm>
            <a:off x="2011680" y="5029200"/>
            <a:ext cx="4480560" cy="594360"/>
          </a:xfrm>
          <a:prstGeom prst="rect">
            <a:avLst/>
          </a:prstGeom>
          <a:noFill/>
          <a:ln/>
        </p:spPr>
        <p:txBody>
          <a:bodyPr wrap="square" lIns="0" tIns="0" rIns="0" bIns="0" rtlCol="0" anchor="t"/>
          <a:lstStyle/>
          <a:p>
            <a:pPr indent="0" marL="0">
              <a:buNone/>
            </a:pPr>
            <a:r>
              <a:rPr lang="en-US" sz="1500" dirty="0">
                <a:solidFill>
                  <a:schemeClr val="bg1"/>
                </a:solidFill>
              </a:rPr>
              <a:t>No agent guesswork. Every decision is logged with its reasons.</a:t>
            </a:r>
            <a:endParaRPr lang="en-US" sz="1500" dirty="0"/>
          </a:p>
        </p:txBody>
      </p:sp>
      <p:sp>
        <p:nvSpPr>
          <p:cNvPr id="11" name="measured"/>
          <p:cNvSpPr/>
          <p:nvPr/>
        </p:nvSpPr>
        <p:spPr>
          <a:xfrm>
            <a:off x="6949440" y="1874520"/>
            <a:ext cx="4663440" cy="4069080"/>
          </a:xfrm>
          <a:prstGeom prst="roundRect">
            <a:avLst>
              <a:gd name="adj" fmla="val 2697"/>
            </a:avLst>
          </a:prstGeom>
          <a:solidFill>
            <a:schemeClr val="tx2"/>
          </a:solidFill>
          <a:ln w="9525">
            <a:solidFill>
              <a:schemeClr val="accent6"/>
            </a:solidFill>
            <a:prstDash val="solid"/>
          </a:ln>
        </p:spPr>
      </p:sp>
      <p:sp>
        <p:nvSpPr>
          <p:cNvPr id="12" name="Text 10"/>
          <p:cNvSpPr txBox="1"/>
          <p:nvPr/>
        </p:nvSpPr>
        <p:spPr>
          <a:xfrm>
            <a:off x="7269480" y="2103120"/>
            <a:ext cx="4114800" cy="320040"/>
          </a:xfrm>
          <a:prstGeom prst="rect">
            <a:avLst/>
          </a:prstGeom>
          <a:noFill/>
          <a:ln/>
        </p:spPr>
        <p:txBody>
          <a:bodyPr wrap="square" lIns="0" tIns="0" rIns="0" bIns="0" rtlCol="0" anchor="ctr"/>
          <a:lstStyle/>
          <a:p>
            <a:pPr indent="0" marL="0">
              <a:buNone/>
            </a:pPr>
            <a:r>
              <a:rPr lang="en-US" sz="1200" b="1" spc="200" kern="0" dirty="0">
                <a:solidFill>
                  <a:schemeClr val="bg2"/>
                </a:solidFill>
              </a:rPr>
              <a:t>MEASURED TODAY, LIVE</a:t>
            </a:r>
            <a:endParaRPr lang="en-US" sz="1200" dirty="0"/>
          </a:p>
        </p:txBody>
      </p:sp>
      <p:sp>
        <p:nvSpPr>
          <p:cNvPr id="13" name="Text 11"/>
          <p:cNvSpPr txBox="1"/>
          <p:nvPr/>
        </p:nvSpPr>
        <p:spPr>
          <a:xfrm>
            <a:off x="7269480" y="2606040"/>
            <a:ext cx="1737360" cy="822960"/>
          </a:xfrm>
          <a:prstGeom prst="rect">
            <a:avLst/>
          </a:prstGeom>
          <a:noFill/>
          <a:ln/>
        </p:spPr>
        <p:txBody>
          <a:bodyPr wrap="square" lIns="0" tIns="0" rIns="0" bIns="0" rtlCol="0" anchor="ctr"/>
          <a:lstStyle/>
          <a:p>
            <a:pPr indent="0" marL="0">
              <a:buNone/>
            </a:pPr>
            <a:r>
              <a:rPr lang="en-US" sz="3600" b="1" dirty="0">
                <a:solidFill>
                  <a:schemeClr val="accent2"/>
                </a:solidFill>
              </a:rPr>
              <a:t>4 / 4</a:t>
            </a:r>
            <a:endParaRPr lang="en-US" sz="3600" dirty="0"/>
          </a:p>
        </p:txBody>
      </p:sp>
      <p:sp>
        <p:nvSpPr>
          <p:cNvPr id="14" name="Text 12"/>
          <p:cNvSpPr txBox="1"/>
          <p:nvPr/>
        </p:nvSpPr>
        <p:spPr>
          <a:xfrm>
            <a:off x="9052560" y="2606040"/>
            <a:ext cx="2377440" cy="822960"/>
          </a:xfrm>
          <a:prstGeom prst="rect">
            <a:avLst/>
          </a:prstGeom>
          <a:noFill/>
          <a:ln/>
        </p:spPr>
        <p:txBody>
          <a:bodyPr wrap="square" lIns="0" tIns="0" rIns="0" bIns="0" rtlCol="0" anchor="ctr"/>
          <a:lstStyle/>
          <a:p>
            <a:pPr indent="0" marL="0">
              <a:buNone/>
            </a:pPr>
            <a:r>
              <a:rPr lang="en-US" sz="1500" dirty="0">
                <a:solidFill>
                  <a:schemeClr val="bg1"/>
                </a:solidFill>
              </a:rPr>
              <a:t>genuine calls approved</a:t>
            </a:r>
            <a:endParaRPr lang="en-US" sz="1500" dirty="0"/>
          </a:p>
        </p:txBody>
      </p:sp>
      <p:sp>
        <p:nvSpPr>
          <p:cNvPr id="15" name="Text 13"/>
          <p:cNvSpPr txBox="1"/>
          <p:nvPr/>
        </p:nvSpPr>
        <p:spPr>
          <a:xfrm>
            <a:off x="7269480" y="3657600"/>
            <a:ext cx="1737360" cy="822960"/>
          </a:xfrm>
          <a:prstGeom prst="rect">
            <a:avLst/>
          </a:prstGeom>
          <a:noFill/>
          <a:ln/>
        </p:spPr>
        <p:txBody>
          <a:bodyPr wrap="square" lIns="0" tIns="0" rIns="0" bIns="0" rtlCol="0" anchor="ctr"/>
          <a:lstStyle/>
          <a:p>
            <a:pPr indent="0" marL="0">
              <a:buNone/>
            </a:pPr>
            <a:r>
              <a:rPr lang="en-US" sz="3600" b="1" dirty="0">
                <a:solidFill>
                  <a:schemeClr val="accent4"/>
                </a:solidFill>
              </a:rPr>
              <a:t>2 / 2</a:t>
            </a:r>
            <a:endParaRPr lang="en-US" sz="3600" dirty="0"/>
          </a:p>
        </p:txBody>
      </p:sp>
      <p:sp>
        <p:nvSpPr>
          <p:cNvPr id="16" name="Text 14"/>
          <p:cNvSpPr txBox="1"/>
          <p:nvPr/>
        </p:nvSpPr>
        <p:spPr>
          <a:xfrm>
            <a:off x="9052560" y="3657600"/>
            <a:ext cx="2377440" cy="822960"/>
          </a:xfrm>
          <a:prstGeom prst="rect">
            <a:avLst/>
          </a:prstGeom>
          <a:noFill/>
          <a:ln/>
        </p:spPr>
        <p:txBody>
          <a:bodyPr wrap="square" lIns="0" tIns="0" rIns="0" bIns="0" rtlCol="0" anchor="ctr"/>
          <a:lstStyle/>
          <a:p>
            <a:pPr indent="0" marL="0">
              <a:buNone/>
            </a:pPr>
            <a:r>
              <a:rPr lang="en-US" sz="1500" dirty="0">
                <a:solidFill>
                  <a:schemeClr val="bg1"/>
                </a:solidFill>
              </a:rPr>
              <a:t>clone attacks blocked</a:t>
            </a:r>
            <a:endParaRPr lang="en-US" sz="1500" dirty="0"/>
          </a:p>
        </p:txBody>
      </p:sp>
      <p:sp>
        <p:nvSpPr>
          <p:cNvPr id="17" name="Text 15"/>
          <p:cNvSpPr txBox="1"/>
          <p:nvPr/>
        </p:nvSpPr>
        <p:spPr>
          <a:xfrm>
            <a:off x="7269480" y="4709160"/>
            <a:ext cx="1737360" cy="822960"/>
          </a:xfrm>
          <a:prstGeom prst="rect">
            <a:avLst/>
          </a:prstGeom>
          <a:noFill/>
          <a:ln/>
        </p:spPr>
        <p:txBody>
          <a:bodyPr wrap="square" lIns="0" tIns="0" rIns="0" bIns="0" rtlCol="0" anchor="ctr"/>
          <a:lstStyle/>
          <a:p>
            <a:pPr indent="0" marL="0">
              <a:buNone/>
            </a:pPr>
            <a:r>
              <a:rPr lang="en-US" sz="3600" b="1" dirty="0">
                <a:solidFill>
                  <a:schemeClr val="accent1"/>
                </a:solidFill>
              </a:rPr>
              <a:t>~7 s</a:t>
            </a:r>
            <a:endParaRPr lang="en-US" sz="3600" dirty="0"/>
          </a:p>
        </p:txBody>
      </p:sp>
      <p:sp>
        <p:nvSpPr>
          <p:cNvPr id="18" name="Text 16"/>
          <p:cNvSpPr txBox="1"/>
          <p:nvPr/>
        </p:nvSpPr>
        <p:spPr>
          <a:xfrm>
            <a:off x="9052560" y="4709160"/>
            <a:ext cx="2377440" cy="822960"/>
          </a:xfrm>
          <a:prstGeom prst="rect">
            <a:avLst/>
          </a:prstGeom>
          <a:noFill/>
          <a:ln/>
        </p:spPr>
        <p:txBody>
          <a:bodyPr wrap="square" lIns="0" tIns="0" rIns="0" bIns="0" rtlCol="0" anchor="ctr"/>
          <a:lstStyle/>
          <a:p>
            <a:pPr indent="0" marL="0">
              <a:buNone/>
            </a:pPr>
            <a:r>
              <a:rPr lang="en-US" sz="1500" dirty="0">
                <a:solidFill>
                  <a:schemeClr val="bg1"/>
                </a:solidFill>
              </a:rPr>
              <a:t>to a verdict, while the caller holds</a:t>
            </a:r>
            <a:endParaRPr lang="en-US" sz="15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548640" y="457200"/>
            <a:ext cx="7315200" cy="320040"/>
          </a:xfrm>
          <a:prstGeom prst="rect">
            <a:avLst/>
          </a:prstGeom>
          <a:noFill/>
          <a:ln/>
        </p:spPr>
        <p:txBody>
          <a:bodyPr wrap="square" lIns="0" tIns="0" rIns="0" bIns="0" rtlCol="0" anchor="ctr"/>
          <a:lstStyle/>
          <a:p>
            <a:pPr indent="0" marL="0">
              <a:buNone/>
            </a:pPr>
            <a:r>
              <a:rPr lang="en-US" sz="1300" b="1" spc="300" kern="0" dirty="0">
                <a:solidFill>
                  <a:schemeClr val="accent1"/>
                </a:solidFill>
              </a:rPr>
              <a:t>SCALE</a:t>
            </a:r>
            <a:endParaRPr lang="en-US" sz="1300" dirty="0"/>
          </a:p>
        </p:txBody>
      </p:sp>
      <p:sp>
        <p:nvSpPr>
          <p:cNvPr id="3" name="title"/>
          <p:cNvSpPr txBox="1"/>
          <p:nvPr/>
        </p:nvSpPr>
        <p:spPr>
          <a:xfrm>
            <a:off x="548640" y="822960"/>
            <a:ext cx="11064240" cy="777240"/>
          </a:xfrm>
          <a:prstGeom prst="rect">
            <a:avLst/>
          </a:prstGeom>
          <a:noFill/>
          <a:ln/>
        </p:spPr>
        <p:txBody>
          <a:bodyPr wrap="square" lIns="0" tIns="0" rIns="0" bIns="0" rtlCol="0" anchor="t"/>
          <a:lstStyle/>
          <a:p>
            <a:pPr indent="0" marL="0">
              <a:buNone/>
            </a:pPr>
            <a:r>
              <a:rPr lang="en-US" sz="3400" b="1" dirty="0">
                <a:solidFill>
                  <a:schemeClr val="bg1"/>
                </a:solidFill>
              </a:rPr>
              <a:t>Pay per protected transaction, not per call minute</a:t>
            </a:r>
            <a:endParaRPr lang="en-US" sz="3400" dirty="0"/>
          </a:p>
        </p:txBody>
      </p:sp>
      <p:graphicFrame>
        <p:nvGraphicFramePr>
          <p:cNvPr id="4" name="ops-chart" descr=""/>
          <p:cNvGraphicFramePr/>
          <p:nvPr/>
        </p:nvGraphicFramePr>
        <p:xfrm>
          <a:off x="548640" y="182880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5212080"/>
            <a:ext cx="5120640" cy="548640"/>
          </a:xfrm>
          <a:prstGeom prst="rect">
            <a:avLst/>
          </a:prstGeom>
          <a:noFill/>
          <a:ln/>
        </p:spPr>
        <p:txBody>
          <a:bodyPr wrap="square" lIns="0" tIns="0" rIns="0" bIns="0" rtlCol="0" anchor="ctr"/>
          <a:lstStyle/>
          <a:p>
            <a:pPr indent="0" marL="0">
              <a:buNone/>
            </a:pPr>
            <a:r>
              <a:rPr lang="en-US" sz="1200" dirty="0">
                <a:solidFill>
                  <a:schemeClr val="bg2"/>
                </a:solidFill>
              </a:rPr>
              <a:t>~75× fewer checks: 1 lakh calls/day, 5 min each, 1 in 10 with a high-risk request.</a:t>
            </a:r>
            <a:endParaRPr lang="en-US" sz="1200" dirty="0"/>
          </a:p>
        </p:txBody>
      </p:sp>
      <p:sp>
        <p:nvSpPr>
          <p:cNvPr id="6" name="scale0"/>
          <p:cNvSpPr/>
          <p:nvPr/>
        </p:nvSpPr>
        <p:spPr>
          <a:xfrm>
            <a:off x="6172200" y="1874520"/>
            <a:ext cx="5440680" cy="1143000"/>
          </a:xfrm>
          <a:prstGeom prst="roundRect">
            <a:avLst>
              <a:gd name="adj" fmla="val 9600"/>
            </a:avLst>
          </a:prstGeom>
          <a:solidFill>
            <a:schemeClr val="tx2"/>
          </a:solidFill>
          <a:ln w="9525">
            <a:solidFill>
              <a:schemeClr val="accent6"/>
            </a:solidFill>
            <a:prstDash val="solid"/>
          </a:ln>
        </p:spPr>
      </p:sp>
      <p:sp>
        <p:nvSpPr>
          <p:cNvPr id="7" name="Text 4"/>
          <p:cNvSpPr txBox="1"/>
          <p:nvPr/>
        </p:nvSpPr>
        <p:spPr>
          <a:xfrm>
            <a:off x="6446520" y="2011680"/>
            <a:ext cx="4937760" cy="320040"/>
          </a:xfrm>
          <a:prstGeom prst="rect">
            <a:avLst/>
          </a:prstGeom>
          <a:noFill/>
          <a:ln/>
        </p:spPr>
        <p:txBody>
          <a:bodyPr wrap="square" lIns="0" tIns="0" rIns="0" bIns="0" rtlCol="0" anchor="ctr"/>
          <a:lstStyle/>
          <a:p>
            <a:pPr indent="0" marL="0">
              <a:buNone/>
            </a:pPr>
            <a:r>
              <a:rPr lang="en-US" sz="1500" b="1" dirty="0">
                <a:solidFill>
                  <a:schemeClr val="accent1"/>
                </a:solidFill>
              </a:rPr>
              <a:t>Who pays</a:t>
            </a:r>
            <a:endParaRPr lang="en-US" sz="1500" dirty="0"/>
          </a:p>
        </p:txBody>
      </p:sp>
      <p:sp>
        <p:nvSpPr>
          <p:cNvPr id="8" name="Text 5"/>
          <p:cNvSpPr txBox="1"/>
          <p:nvPr/>
        </p:nvSpPr>
        <p:spPr>
          <a:xfrm>
            <a:off x="6446520" y="2331720"/>
            <a:ext cx="4983480" cy="640080"/>
          </a:xfrm>
          <a:prstGeom prst="rect">
            <a:avLst/>
          </a:prstGeom>
          <a:noFill/>
          <a:ln/>
        </p:spPr>
        <p:txBody>
          <a:bodyPr wrap="square" lIns="0" tIns="0" rIns="0" bIns="0" rtlCol="0" anchor="t"/>
          <a:lstStyle/>
          <a:p>
            <a:pPr indent="0" marL="0">
              <a:buNone/>
            </a:pPr>
            <a:r>
              <a:rPr lang="en-US" sz="1300" dirty="0">
                <a:solidFill>
                  <a:schemeClr val="bg1"/>
                </a:solidFill>
              </a:rPr>
              <a:t>Banks, UPI apps and NBFC helplines, per protected request (2 checks). Nothing for the rest of the call.</a:t>
            </a:r>
            <a:endParaRPr lang="en-US" sz="1300" dirty="0"/>
          </a:p>
        </p:txBody>
      </p:sp>
      <p:sp>
        <p:nvSpPr>
          <p:cNvPr id="9" name="scale1"/>
          <p:cNvSpPr/>
          <p:nvPr/>
        </p:nvSpPr>
        <p:spPr>
          <a:xfrm>
            <a:off x="6172200" y="3200400"/>
            <a:ext cx="5440680" cy="1143000"/>
          </a:xfrm>
          <a:prstGeom prst="roundRect">
            <a:avLst>
              <a:gd name="adj" fmla="val 9600"/>
            </a:avLst>
          </a:prstGeom>
          <a:solidFill>
            <a:schemeClr val="tx2"/>
          </a:solidFill>
          <a:ln w="9525">
            <a:solidFill>
              <a:schemeClr val="accent6"/>
            </a:solidFill>
            <a:prstDash val="solid"/>
          </a:ln>
        </p:spPr>
      </p:sp>
      <p:sp>
        <p:nvSpPr>
          <p:cNvPr id="10" name="Text 7"/>
          <p:cNvSpPr txBox="1"/>
          <p:nvPr/>
        </p:nvSpPr>
        <p:spPr>
          <a:xfrm>
            <a:off x="6446520" y="3337560"/>
            <a:ext cx="4937760" cy="320040"/>
          </a:xfrm>
          <a:prstGeom prst="rect">
            <a:avLst/>
          </a:prstGeom>
          <a:noFill/>
          <a:ln/>
        </p:spPr>
        <p:txBody>
          <a:bodyPr wrap="square" lIns="0" tIns="0" rIns="0" bIns="0" rtlCol="0" anchor="ctr"/>
          <a:lstStyle/>
          <a:p>
            <a:pPr indent="0" marL="0">
              <a:buNone/>
            </a:pPr>
            <a:r>
              <a:rPr lang="en-US" sz="1500" b="1" dirty="0">
                <a:solidFill>
                  <a:schemeClr val="accent1"/>
                </a:solidFill>
              </a:rPr>
              <a:t>Route in</a:t>
            </a:r>
            <a:endParaRPr lang="en-US" sz="1500" dirty="0"/>
          </a:p>
        </p:txBody>
      </p:sp>
      <p:sp>
        <p:nvSpPr>
          <p:cNvPr id="11" name="Text 8"/>
          <p:cNvSpPr txBox="1"/>
          <p:nvPr/>
        </p:nvSpPr>
        <p:spPr>
          <a:xfrm>
            <a:off x="6446520" y="3657600"/>
            <a:ext cx="4983480" cy="640080"/>
          </a:xfrm>
          <a:prstGeom prst="rect">
            <a:avLst/>
          </a:prstGeom>
          <a:noFill/>
          <a:ln/>
        </p:spPr>
        <p:txBody>
          <a:bodyPr wrap="square" lIns="0" tIns="0" rIns="0" bIns="0" rtlCol="0" anchor="t"/>
          <a:lstStyle/>
          <a:p>
            <a:pPr indent="0" marL="0">
              <a:buNone/>
            </a:pPr>
            <a:r>
              <a:rPr lang="en-US" sz="1300" dirty="0">
                <a:solidFill>
                  <a:schemeClr val="bg1"/>
                </a:solidFill>
              </a:rPr>
              <a:t>Contact centres already stream call audio (Exotel, Twilio, Genesys). Neerja becomes one step in the bank’s phone menu.</a:t>
            </a:r>
            <a:endParaRPr lang="en-US" sz="1300" dirty="0"/>
          </a:p>
        </p:txBody>
      </p:sp>
      <p:sp>
        <p:nvSpPr>
          <p:cNvPr id="12" name="scale2"/>
          <p:cNvSpPr/>
          <p:nvPr/>
        </p:nvSpPr>
        <p:spPr>
          <a:xfrm>
            <a:off x="6172200" y="4526280"/>
            <a:ext cx="5440680" cy="1143000"/>
          </a:xfrm>
          <a:prstGeom prst="roundRect">
            <a:avLst>
              <a:gd name="adj" fmla="val 9600"/>
            </a:avLst>
          </a:prstGeom>
          <a:solidFill>
            <a:schemeClr val="tx2"/>
          </a:solidFill>
          <a:ln w="9525">
            <a:solidFill>
              <a:schemeClr val="accent6"/>
            </a:solidFill>
            <a:prstDash val="solid"/>
          </a:ln>
        </p:spPr>
      </p:sp>
      <p:sp>
        <p:nvSpPr>
          <p:cNvPr id="13" name="Text 10"/>
          <p:cNvSpPr txBox="1"/>
          <p:nvPr/>
        </p:nvSpPr>
        <p:spPr>
          <a:xfrm>
            <a:off x="6446520" y="4663440"/>
            <a:ext cx="4937760" cy="320040"/>
          </a:xfrm>
          <a:prstGeom prst="rect">
            <a:avLst/>
          </a:prstGeom>
          <a:noFill/>
          <a:ln/>
        </p:spPr>
        <p:txBody>
          <a:bodyPr wrap="square" lIns="0" tIns="0" rIns="0" bIns="0" rtlCol="0" anchor="ctr"/>
          <a:lstStyle/>
          <a:p>
            <a:pPr indent="0" marL="0">
              <a:buNone/>
            </a:pPr>
            <a:r>
              <a:rPr lang="en-US" sz="1500" b="1" dirty="0">
                <a:solidFill>
                  <a:schemeClr val="accent1"/>
                </a:solidFill>
              </a:rPr>
              <a:t>Risks</a:t>
            </a:r>
            <a:endParaRPr lang="en-US" sz="1500" dirty="0"/>
          </a:p>
        </p:txBody>
      </p:sp>
      <p:sp>
        <p:nvSpPr>
          <p:cNvPr id="14" name="Text 11"/>
          <p:cNvSpPr txBox="1"/>
          <p:nvPr/>
        </p:nvSpPr>
        <p:spPr>
          <a:xfrm>
            <a:off x="6446520" y="4983480"/>
            <a:ext cx="4983480" cy="640080"/>
          </a:xfrm>
          <a:prstGeom prst="rect">
            <a:avLst/>
          </a:prstGeom>
          <a:noFill/>
          <a:ln/>
        </p:spPr>
        <p:txBody>
          <a:bodyPr wrap="square" lIns="0" tIns="0" rIns="0" bIns="0" rtlCol="0" anchor="t"/>
          <a:lstStyle/>
          <a:p>
            <a:pPr indent="0" marL="0">
              <a:buNone/>
            </a:pPr>
            <a:r>
              <a:rPr lang="en-US" sz="1300" dirty="0">
                <a:solidFill>
                  <a:schemeClr val="bg1"/>
                </a:solidFill>
              </a:rPr>
              <a:t>Phone audio: measured and fixed. Replays: live passphrase plus in-app alert. Privacy: opt-in, delete on request (DPDP).</a:t>
            </a:r>
            <a:endParaRPr lang="en-US" sz="1300" dirty="0"/>
          </a:p>
        </p:txBody>
      </p:sp>
      <p:sp>
        <p:nvSpPr>
          <p:cNvPr id="25" name="Slide Number Placeholder 0"/>
          <p:cNvSpPr>
            <a:spLocks noGrp="1"/>
          </p:cNvSpPr>
          <p:nvPr>
            <p:ph type="sldNum" sz="quarter" idx="4294967295"/>
          </p:nvPr>
        </p:nvSpPr>
        <p:spPr>
          <a:xfrm>
            <a:off x="1124712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logo" descr="CallShield shield logo">    </p:cNvPr>
          <p:cNvPicPr>
            <a:picLocks noChangeAspect="1"/>
          </p:cNvPicPr>
          <p:nvPr/>
        </p:nvPicPr>
        <p:blipFill>
          <a:blip r:embed="rId1"/>
          <a:stretch>
            <a:fillRect/>
          </a:stretch>
        </p:blipFill>
        <p:spPr>
          <a:xfrm>
            <a:off x="658368" y="1417320"/>
            <a:ext cx="914400" cy="914400"/>
          </a:xfrm>
          <a:prstGeom prst="rect">
            <a:avLst/>
          </a:prstGeom>
        </p:spPr>
      </p:pic>
      <p:sp>
        <p:nvSpPr>
          <p:cNvPr id="3" name="thanks"/>
          <p:cNvSpPr txBox="1"/>
          <p:nvPr/>
        </p:nvSpPr>
        <p:spPr>
          <a:xfrm>
            <a:off x="822960" y="2514600"/>
            <a:ext cx="8229600" cy="1005840"/>
          </a:xfrm>
          <a:prstGeom prst="rect">
            <a:avLst/>
          </a:prstGeom>
          <a:noFill/>
          <a:ln/>
        </p:spPr>
        <p:txBody>
          <a:bodyPr wrap="square" lIns="0" tIns="0" rIns="0" bIns="0" rtlCol="0" anchor="ctr"/>
          <a:lstStyle/>
          <a:p>
            <a:pPr indent="0" marL="0">
              <a:buNone/>
            </a:pPr>
            <a:r>
              <a:rPr lang="en-US" sz="5400" b="1" dirty="0">
                <a:solidFill>
                  <a:schemeClr val="bg1"/>
                </a:solidFill>
              </a:rPr>
              <a:t>Thank you</a:t>
            </a:r>
            <a:endParaRPr lang="en-US" sz="5400" dirty="0"/>
          </a:p>
        </p:txBody>
      </p:sp>
      <p:sp>
        <p:nvSpPr>
          <p:cNvPr id="4" name="closing-line"/>
          <p:cNvSpPr txBox="1"/>
          <p:nvPr/>
        </p:nvSpPr>
        <p:spPr>
          <a:xfrm>
            <a:off x="822960" y="3520440"/>
            <a:ext cx="10058400" cy="548640"/>
          </a:xfrm>
          <a:prstGeom prst="rect">
            <a:avLst/>
          </a:prstGeom>
          <a:noFill/>
          <a:ln/>
        </p:spPr>
        <p:txBody>
          <a:bodyPr wrap="square" lIns="0" tIns="0" rIns="0" bIns="0" rtlCol="0" anchor="ctr"/>
          <a:lstStyle/>
          <a:p>
            <a:pPr indent="0" marL="0">
              <a:buNone/>
            </a:pPr>
            <a:r>
              <a:rPr lang="en-US" sz="2000" dirty="0">
                <a:solidFill>
                  <a:schemeClr val="bg2"/>
                </a:solidFill>
              </a:rPr>
              <a:t>A fraudster can copy your voice. CallShield makes sure it can’t move your money.</a:t>
            </a:r>
            <a:endParaRPr lang="en-US" sz="2000" dirty="0"/>
          </a:p>
        </p:txBody>
      </p:sp>
      <p:sp>
        <p:nvSpPr>
          <p:cNvPr id="5" name="repo-card"/>
          <p:cNvSpPr/>
          <p:nvPr/>
        </p:nvSpPr>
        <p:spPr>
          <a:xfrm>
            <a:off x="822960" y="4389120"/>
            <a:ext cx="7863840" cy="960120"/>
          </a:xfrm>
          <a:prstGeom prst="roundRect">
            <a:avLst>
              <a:gd name="adj" fmla="val 11429"/>
            </a:avLst>
          </a:prstGeom>
          <a:solidFill>
            <a:schemeClr val="tx2"/>
          </a:solidFill>
          <a:ln w="9525">
            <a:solidFill>
              <a:schemeClr val="accent6"/>
            </a:solidFill>
            <a:prstDash val="solid"/>
          </a:ln>
        </p:spPr>
      </p:sp>
      <p:sp>
        <p:nvSpPr>
          <p:cNvPr id="6" name="Text 3"/>
          <p:cNvSpPr txBox="1"/>
          <p:nvPr/>
        </p:nvSpPr>
        <p:spPr>
          <a:xfrm>
            <a:off x="1097280" y="4526280"/>
            <a:ext cx="1828800" cy="274320"/>
          </a:xfrm>
          <a:prstGeom prst="rect">
            <a:avLst/>
          </a:prstGeom>
          <a:noFill/>
          <a:ln/>
        </p:spPr>
        <p:txBody>
          <a:bodyPr wrap="square" lIns="0" tIns="0" rIns="0" bIns="0" rtlCol="0" anchor="ctr"/>
          <a:lstStyle/>
          <a:p>
            <a:pPr indent="0" marL="0">
              <a:buNone/>
            </a:pPr>
            <a:r>
              <a:rPr lang="en-US" sz="1100" b="1" spc="300" kern="0" dirty="0">
                <a:solidFill>
                  <a:schemeClr val="bg2"/>
                </a:solidFill>
              </a:rPr>
              <a:t>CODE</a:t>
            </a:r>
            <a:endParaRPr lang="en-US" sz="1100" dirty="0"/>
          </a:p>
        </p:txBody>
      </p:sp>
      <p:sp>
        <p:nvSpPr>
          <p:cNvPr id="7" name="repo-link"/>
          <p:cNvSpPr txBox="1"/>
          <p:nvPr/>
        </p:nvSpPr>
        <p:spPr>
          <a:xfrm>
            <a:off x="1097280" y="4800600"/>
            <a:ext cx="7406640" cy="457200"/>
          </a:xfrm>
          <a:prstGeom prst="rect">
            <a:avLst/>
          </a:prstGeom>
          <a:noFill/>
          <a:ln/>
        </p:spPr>
        <p:txBody>
          <a:bodyPr wrap="square" lIns="0" tIns="0" rIns="0" bIns="0" rtlCol="0" anchor="ctr"/>
          <a:lstStyle/>
          <a:p>
            <a:pPr indent="0" marL="0">
              <a:buNone/>
            </a:pPr>
            <a:r>
              <a:rPr lang="en-US" sz="22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github.com/Nazeef1/callshield</a:t>
            </a:r>
            <a:endParaRPr lang="en-US" sz="2200" dirty="0"/>
          </a:p>
        </p:txBody>
      </p:sp>
    </p:spTree>
  </p:cSld>
  <p:clrMapOvr>
    <a:masterClrMapping/>
  </p:clrMapOvr>
</p:sld>
</file>

<file path=ppt/theme/theme1.xml><?xml version="1.0" encoding="utf-8"?>
<a:theme xmlns:a="http://schemas.openxmlformats.org/drawingml/2006/main" name="CallShield">
  <a:themeElements>
    <a:clrScheme name="CallShield">
      <a:dk1>
        <a:srgbClr val="0B0D12"/>
      </a:dk1>
      <a:lt1>
        <a:srgbClr val="E8EBF2"/>
      </a:lt1>
      <a:dk2>
        <a:srgbClr val="12151C"/>
      </a:dk2>
      <a:lt2>
        <a:srgbClr val="8D95A8"/>
      </a:lt2>
      <a:accent1>
        <a:srgbClr val="D4FF2A"/>
      </a:accent1>
      <a:accent2>
        <a:srgbClr val="3DDC84"/>
      </a:accent2>
      <a:accent3>
        <a:srgbClr val="F5B83D"/>
      </a:accent3>
      <a:accent4>
        <a:srgbClr val="FF5A4E"/>
      </a:accent4>
      <a:accent5>
        <a:srgbClr val="181C25"/>
      </a:accent5>
      <a:accent6>
        <a:srgbClr val="2F3646"/>
      </a:accent6>
      <a:hlink>
        <a:srgbClr val="D4FF2A"/>
      </a:hlink>
      <a:folHlink>
        <a:srgbClr val="8D95A8"/>
      </a:folHlink>
    </a:clrScheme>
    <a:fontScheme name="CallShiel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CallShield</dc:title>
  <dc:subject>PptxGenJS Presentation</dc:subject>
  <dc:creator>PptxGenJS</dc:creator>
  <cp:lastModifiedBy>PptxGenJS</cp:lastModifiedBy>
  <cp:revision>1</cp:revision>
  <dcterms:created xsi:type="dcterms:W3CDTF">2026-10-17T12:46:43Z</dcterms:created>
  <dcterms:modified xsi:type="dcterms:W3CDTF">2026-10-17T12:46:43Z</dcterms:modified>
</cp:coreProperties>
</file>